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5DA46D9-3AF1-4C1F-ADC3-67B22FD8D0D6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F352D2-9D4D-45D4-8796-3DE20164FB8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ACFB84-958B-417D-9D9E-CADBF8782F5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361AF4-A470-45AA-8F1B-1F5E5A835C5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EAE76E-85E5-43E2-ADA3-0299F978671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BA191D-A1AE-4934-958D-87210A4C837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885A8F-9C34-4922-A4DC-C4E35B63496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BD19BA-0690-4629-A4FF-AD9AEC516AD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3D66E1-39B7-40F3-BB7F-5DD38C80D79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3616EB-E8A4-473E-9A2F-B76CB9A3346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93DBDD-48E6-458D-90FC-C37A1C99265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8873C4-2A7F-411C-97F3-DCB195D27C8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nishboodia-dot.github.io/ai-ilecture-checkpoints-demo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nishboodia-dot.github.io/ai-ilecture-checkpoints-demo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0" y="1572840"/>
            <a:ext cx="12191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F2D774"/>
                </a:solidFill>
                <a:latin typeface="Arial"/>
                <a:ea typeface="Arial"/>
              </a:rPr>
              <a:t>LFC 2026  ·  AI UNLEASHED   ·   FUTURE LEARNING CONCEPT   ·   GROUP 12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0" y="1938600"/>
            <a:ext cx="1219140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strike="noStrike" spc="797">
                <a:solidFill>
                  <a:srgbClr val="F2D774"/>
                </a:solidFill>
                <a:latin typeface="Arial"/>
                <a:ea typeface="Arial"/>
              </a:rPr>
              <a:t>COGNIVUE</a:t>
            </a:r>
            <a:endParaRPr lang="en-US" sz="8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0" y="340164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strike="noStrike" spc="-1">
                <a:solidFill>
                  <a:srgbClr val="F5F4F0"/>
                </a:solidFill>
                <a:latin typeface="Calibri"/>
                <a:ea typeface="Calibri"/>
              </a:rPr>
              <a:t>See what you missed. Master what matters.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2167200" y="3950280"/>
            <a:ext cx="78634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A9A69C"/>
                </a:solidFill>
                <a:latin typeface="Calibri"/>
                <a:ea typeface="Calibri"/>
              </a:rPr>
              <a:t>AI concept checkpoints inside Echo360 lecture recordings.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3081600" y="5145840"/>
            <a:ext cx="6034680" cy="40680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5840" rIns="90000" bIns="-158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3081600" y="5145840"/>
            <a:ext cx="2836080" cy="40680"/>
          </a:xfrm>
          <a:prstGeom prst="roundRect">
            <a:avLst>
              <a:gd name="adj" fmla="val 50000"/>
            </a:avLst>
          </a:prstGeom>
          <a:solidFill>
            <a:srgbClr val="D633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5840" rIns="90000" bIns="-158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5858640" y="5106960"/>
            <a:ext cx="118440" cy="118440"/>
          </a:xfrm>
          <a:prstGeom prst="ellipse">
            <a:avLst/>
          </a:prstGeom>
          <a:solidFill>
            <a:srgbClr val="F5F4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486600" y="5088600"/>
            <a:ext cx="155160" cy="15516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633200" y="5088600"/>
            <a:ext cx="155160" cy="15516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840280" y="5088600"/>
            <a:ext cx="155160" cy="15516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7107480" y="5088600"/>
            <a:ext cx="155160" cy="15516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8435520" y="5088600"/>
            <a:ext cx="155160" cy="15516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3244320" y="5358240"/>
            <a:ext cx="639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07D74"/>
                </a:solidFill>
                <a:latin typeface="Courier New"/>
                <a:ea typeface="Courier New"/>
              </a:rPr>
              <a:t>0:30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390920" y="5358240"/>
            <a:ext cx="639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07D74"/>
                </a:solidFill>
                <a:latin typeface="Courier New"/>
                <a:ea typeface="Courier New"/>
              </a:rPr>
              <a:t>1:25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5598000" y="5358240"/>
            <a:ext cx="639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07D74"/>
                </a:solidFill>
                <a:latin typeface="Courier New"/>
                <a:ea typeface="Courier New"/>
              </a:rPr>
              <a:t>2:50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6865200" y="5358240"/>
            <a:ext cx="639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07D74"/>
                </a:solidFill>
                <a:latin typeface="Courier New"/>
                <a:ea typeface="Courier New"/>
              </a:rPr>
              <a:t>4:20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8192880" y="5358240"/>
            <a:ext cx="639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07D74"/>
                </a:solidFill>
                <a:latin typeface="Courier New"/>
                <a:ea typeface="Courier New"/>
              </a:rPr>
              <a:t>5:50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0" y="6355080"/>
            <a:ext cx="1219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199">
                <a:solidFill>
                  <a:srgbClr val="807D74"/>
                </a:solidFill>
                <a:latin typeface="Arial"/>
                <a:ea typeface="Arial"/>
              </a:rPr>
              <a:t>Curtin University  ·  Bentley  ·  July 2026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548640" y="311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299">
                <a:solidFill>
                  <a:srgbClr val="F2D774"/>
                </a:solidFill>
                <a:latin typeface="Arial"/>
                <a:ea typeface="Arial"/>
              </a:rPr>
              <a:t>THE PROBLEM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548640" y="54864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5F4F0"/>
                </a:solidFill>
                <a:latin typeface="Arial"/>
                <a:ea typeface="Arial"/>
              </a:rPr>
              <a:t>Flexible lectures, invisible gaps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548640" y="1463040"/>
            <a:ext cx="406872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F5F4F0"/>
                </a:solidFill>
                <a:latin typeface="Calibri"/>
                <a:ea typeface="Calibri"/>
              </a:rPr>
              <a:t>Online lectures are flexible, and long. </a:t>
            </a:r>
            <a:r>
              <a:rPr lang="en-US" sz="1350" b="0" strike="noStrike" spc="-1">
                <a:solidFill>
                  <a:srgbClr val="A9A69C"/>
                </a:solidFill>
                <a:latin typeface="Calibri"/>
                <a:ea typeface="Calibri"/>
              </a:rPr>
              <a:t>Focus slips somewhere inside a two or three hour recording. A key concept goes past, and nothing marks the moment. The gap surfaces at exam time.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548640" y="3977640"/>
            <a:ext cx="4068720" cy="1691280"/>
          </a:xfrm>
          <a:prstGeom prst="roundRect">
            <a:avLst>
              <a:gd name="adj" fmla="val 3784"/>
            </a:avLst>
          </a:prstGeom>
          <a:solidFill>
            <a:srgbClr val="EAE5D9"/>
          </a:solidFill>
          <a:ln w="12700">
            <a:solidFill>
              <a:srgbClr val="D6D0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777240" y="4160520"/>
            <a:ext cx="361152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50" b="1" i="1" strike="noStrike" spc="-1">
                <a:solidFill>
                  <a:srgbClr val="17171A"/>
                </a:solidFill>
                <a:latin typeface="Calibri"/>
                <a:ea typeface="Calibri"/>
              </a:rPr>
              <a:t>“Students need a way to check their understanding while watching the lecture, without leaving the platform.”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5"/>
          <p:cNvSpPr/>
          <p:nvPr/>
        </p:nvSpPr>
        <p:spPr>
          <a:xfrm>
            <a:off x="4983480" y="1463040"/>
            <a:ext cx="3200040" cy="2011320"/>
          </a:xfrm>
          <a:prstGeom prst="roundRect">
            <a:avLst>
              <a:gd name="adj" fmla="val 3182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5212080" y="169164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" name="Image 0" descr="/home/claude/icons/frown_yellow.png"/>
          <p:cNvPicPr/>
          <p:nvPr/>
        </p:nvPicPr>
        <p:blipFill>
          <a:blip r:embed="rId3"/>
          <a:stretch/>
        </p:blipFill>
        <p:spPr>
          <a:xfrm>
            <a:off x="5330880" y="18104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34" name="Text 7"/>
          <p:cNvSpPr/>
          <p:nvPr/>
        </p:nvSpPr>
        <p:spPr>
          <a:xfrm>
            <a:off x="5212080" y="226764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F5F4F0"/>
                </a:solidFill>
                <a:latin typeface="Arial"/>
                <a:ea typeface="Arial"/>
              </a:rPr>
              <a:t>Focus fades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5212080" y="256032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Attention drains quietly, with no signal at the moment it slips.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9"/>
          <p:cNvSpPr/>
          <p:nvPr/>
        </p:nvSpPr>
        <p:spPr>
          <a:xfrm>
            <a:off x="8439840" y="1463040"/>
            <a:ext cx="3200040" cy="2011320"/>
          </a:xfrm>
          <a:prstGeom prst="roundRect">
            <a:avLst>
              <a:gd name="adj" fmla="val 3182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0"/>
          <p:cNvSpPr/>
          <p:nvPr/>
        </p:nvSpPr>
        <p:spPr>
          <a:xfrm>
            <a:off x="8668440" y="169164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" name="Image 1" descr="/home/claude/icons/search_yellow.png"/>
          <p:cNvPicPr/>
          <p:nvPr/>
        </p:nvPicPr>
        <p:blipFill>
          <a:blip r:embed="rId4"/>
          <a:stretch/>
        </p:blipFill>
        <p:spPr>
          <a:xfrm>
            <a:off x="8787240" y="18104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39" name="Text 11"/>
          <p:cNvSpPr/>
          <p:nvPr/>
        </p:nvSpPr>
        <p:spPr>
          <a:xfrm>
            <a:off x="8668440" y="226764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F5F4F0"/>
                </a:solidFill>
                <a:latin typeface="Arial"/>
                <a:ea typeface="Arial"/>
              </a:rPr>
              <a:t>Hard to find again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8668440" y="256032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One missed concept, buried in hours of video.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3"/>
          <p:cNvSpPr/>
          <p:nvPr/>
        </p:nvSpPr>
        <p:spPr>
          <a:xfrm>
            <a:off x="4983480" y="3657600"/>
            <a:ext cx="3200040" cy="2011320"/>
          </a:xfrm>
          <a:prstGeom prst="roundRect">
            <a:avLst>
              <a:gd name="adj" fmla="val 3182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14"/>
          <p:cNvSpPr/>
          <p:nvPr/>
        </p:nvSpPr>
        <p:spPr>
          <a:xfrm>
            <a:off x="5212080" y="388620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" name="Image 2" descr="/home/claude/icons/rotate_yellow.png"/>
          <p:cNvPicPr/>
          <p:nvPr/>
        </p:nvPicPr>
        <p:blipFill>
          <a:blip r:embed="rId5"/>
          <a:stretch/>
        </p:blipFill>
        <p:spPr>
          <a:xfrm>
            <a:off x="5330880" y="40050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44" name="Text 15"/>
          <p:cNvSpPr/>
          <p:nvPr/>
        </p:nvSpPr>
        <p:spPr>
          <a:xfrm>
            <a:off x="5212080" y="446220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F5F4F0"/>
                </a:solidFill>
                <a:latin typeface="Arial"/>
                <a:ea typeface="Arial"/>
              </a:rPr>
              <a:t>Revision becomes rewatching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5212080" y="475488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Relearning one idea means scrubbing whole lectures.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17"/>
          <p:cNvSpPr/>
          <p:nvPr/>
        </p:nvSpPr>
        <p:spPr>
          <a:xfrm>
            <a:off x="8439840" y="3657600"/>
            <a:ext cx="3200040" cy="2011320"/>
          </a:xfrm>
          <a:prstGeom prst="roundRect">
            <a:avLst>
              <a:gd name="adj" fmla="val 3182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8"/>
          <p:cNvSpPr/>
          <p:nvPr/>
        </p:nvSpPr>
        <p:spPr>
          <a:xfrm>
            <a:off x="8668440" y="388620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" name="Image 3" descr="/home/claude/icons/upload_yellow.png"/>
          <p:cNvPicPr/>
          <p:nvPr/>
        </p:nvPicPr>
        <p:blipFill>
          <a:blip r:embed="rId6"/>
          <a:stretch/>
        </p:blipFill>
        <p:spPr>
          <a:xfrm>
            <a:off x="8787240" y="40050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49" name="Text 19"/>
          <p:cNvSpPr/>
          <p:nvPr/>
        </p:nvSpPr>
        <p:spPr>
          <a:xfrm>
            <a:off x="8668440" y="446220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F5F4F0"/>
                </a:solidFill>
                <a:latin typeface="Arial"/>
                <a:ea typeface="Arial"/>
              </a:rPr>
              <a:t>AI tools sit outside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8668440" y="475488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Separate uploads, and no timestamps back to the moment.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21"/>
          <p:cNvSpPr/>
          <p:nvPr/>
        </p:nvSpPr>
        <p:spPr>
          <a:xfrm>
            <a:off x="548640" y="651060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199">
                <a:solidFill>
                  <a:srgbClr val="807D74"/>
                </a:solidFill>
                <a:latin typeface="Arial"/>
                <a:ea typeface="Arial"/>
              </a:rPr>
              <a:t>COGNIVUE  ·  GROUP 12  ·  FUTURE LEARNING CONCEPT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22"/>
          <p:cNvSpPr/>
          <p:nvPr/>
        </p:nvSpPr>
        <p:spPr>
          <a:xfrm>
            <a:off x="4989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23"/>
          <p:cNvSpPr/>
          <p:nvPr/>
        </p:nvSpPr>
        <p:spPr>
          <a:xfrm>
            <a:off x="5184360" y="6567840"/>
            <a:ext cx="104760" cy="104760"/>
          </a:xfrm>
          <a:prstGeom prst="diamond">
            <a:avLst/>
          </a:prstGeom>
          <a:solidFill>
            <a:srgbClr val="F2D77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560" rIns="90000" bIns="75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24"/>
          <p:cNvSpPr/>
          <p:nvPr/>
        </p:nvSpPr>
        <p:spPr>
          <a:xfrm>
            <a:off x="5419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25"/>
          <p:cNvSpPr/>
          <p:nvPr/>
        </p:nvSpPr>
        <p:spPr>
          <a:xfrm>
            <a:off x="56343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26"/>
          <p:cNvSpPr/>
          <p:nvPr/>
        </p:nvSpPr>
        <p:spPr>
          <a:xfrm>
            <a:off x="58492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27"/>
          <p:cNvSpPr/>
          <p:nvPr/>
        </p:nvSpPr>
        <p:spPr>
          <a:xfrm>
            <a:off x="60642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28"/>
          <p:cNvSpPr/>
          <p:nvPr/>
        </p:nvSpPr>
        <p:spPr>
          <a:xfrm>
            <a:off x="627912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29"/>
          <p:cNvSpPr/>
          <p:nvPr/>
        </p:nvSpPr>
        <p:spPr>
          <a:xfrm>
            <a:off x="649404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30"/>
          <p:cNvSpPr/>
          <p:nvPr/>
        </p:nvSpPr>
        <p:spPr>
          <a:xfrm>
            <a:off x="6708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31"/>
          <p:cNvSpPr/>
          <p:nvPr/>
        </p:nvSpPr>
        <p:spPr>
          <a:xfrm>
            <a:off x="69238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32"/>
          <p:cNvSpPr/>
          <p:nvPr/>
        </p:nvSpPr>
        <p:spPr>
          <a:xfrm>
            <a:off x="7138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548640" y="311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299">
                <a:solidFill>
                  <a:srgbClr val="F2D774"/>
                </a:solidFill>
                <a:latin typeface="Arial"/>
                <a:ea typeface="Arial"/>
              </a:rPr>
              <a:t>THE PITCH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548640" y="54864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5F4F0"/>
                </a:solidFill>
                <a:latin typeface="Arial"/>
                <a:ea typeface="Arial"/>
              </a:rPr>
              <a:t>Cognivue puts checkpoints inside the lecture itself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2"/>
          <p:cNvSpPr/>
          <p:nvPr/>
        </p:nvSpPr>
        <p:spPr>
          <a:xfrm>
            <a:off x="548640" y="1298520"/>
            <a:ext cx="11063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A9A69C"/>
                </a:solidFill>
                <a:latin typeface="Calibri"/>
                <a:ea typeface="Calibri"/>
              </a:rPr>
              <a:t>A free, optional browser add-on for Echo360. No uploads, no second platform.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548640" y="2103120"/>
            <a:ext cx="3520080" cy="1965600"/>
          </a:xfrm>
          <a:prstGeom prst="roundRect">
            <a:avLst>
              <a:gd name="adj" fmla="val 3256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777240" y="2331720"/>
            <a:ext cx="420120" cy="420120"/>
          </a:xfrm>
          <a:prstGeom prst="ellipse">
            <a:avLst/>
          </a:prstGeom>
          <a:solidFill>
            <a:srgbClr val="F2D77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777240" y="23227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7171A"/>
                </a:solidFill>
                <a:latin typeface="Arial"/>
                <a:ea typeface="Arial"/>
              </a:rPr>
              <a:t>1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1325880" y="2359080"/>
            <a:ext cx="25599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F5F4F0"/>
                </a:solidFill>
                <a:latin typeface="Arial"/>
                <a:ea typeface="Arial"/>
              </a:rPr>
              <a:t>AI maps the lecture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777240" y="301752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Transcript and slides scanned; every concept pinned to its timestamp.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" name="Image 0" descr="/home/claude/icons/chevrons_yellow.png"/>
          <p:cNvPicPr/>
          <p:nvPr/>
        </p:nvPicPr>
        <p:blipFill>
          <a:blip r:embed="rId3"/>
          <a:stretch/>
        </p:blipFill>
        <p:spPr>
          <a:xfrm>
            <a:off x="4101120" y="29854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72" name="Shape 8"/>
          <p:cNvSpPr/>
          <p:nvPr/>
        </p:nvSpPr>
        <p:spPr>
          <a:xfrm>
            <a:off x="4334400" y="2103120"/>
            <a:ext cx="3520080" cy="1965600"/>
          </a:xfrm>
          <a:prstGeom prst="roundRect">
            <a:avLst>
              <a:gd name="adj" fmla="val 3256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9"/>
          <p:cNvSpPr/>
          <p:nvPr/>
        </p:nvSpPr>
        <p:spPr>
          <a:xfrm>
            <a:off x="4563000" y="2331720"/>
            <a:ext cx="420120" cy="420120"/>
          </a:xfrm>
          <a:prstGeom prst="ellipse">
            <a:avLst/>
          </a:prstGeom>
          <a:solidFill>
            <a:srgbClr val="F2D77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0"/>
          <p:cNvSpPr/>
          <p:nvPr/>
        </p:nvSpPr>
        <p:spPr>
          <a:xfrm>
            <a:off x="4563000" y="23227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7171A"/>
                </a:solidFill>
                <a:latin typeface="Arial"/>
                <a:ea typeface="Arial"/>
              </a:rPr>
              <a:t>2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5111640" y="2359080"/>
            <a:ext cx="25599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F5F4F0"/>
                </a:solidFill>
                <a:latin typeface="Arial"/>
                <a:ea typeface="Arial"/>
              </a:rPr>
              <a:t>The lecture pauses to check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2"/>
          <p:cNvSpPr/>
          <p:nvPr/>
        </p:nvSpPr>
        <p:spPr>
          <a:xfrm>
            <a:off x="4563000" y="301752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A 30-second diagnostic quiz, then straight back to the video.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" name="Image 1" descr="/home/claude/icons/chevrons_yellow.png"/>
          <p:cNvPicPr/>
          <p:nvPr/>
        </p:nvPicPr>
        <p:blipFill>
          <a:blip r:embed="rId3"/>
          <a:stretch/>
        </p:blipFill>
        <p:spPr>
          <a:xfrm>
            <a:off x="7886880" y="29854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78" name="Shape 13"/>
          <p:cNvSpPr/>
          <p:nvPr/>
        </p:nvSpPr>
        <p:spPr>
          <a:xfrm>
            <a:off x="8119800" y="2103120"/>
            <a:ext cx="3520080" cy="1965600"/>
          </a:xfrm>
          <a:prstGeom prst="roundRect">
            <a:avLst>
              <a:gd name="adj" fmla="val 3256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14"/>
          <p:cNvSpPr/>
          <p:nvPr/>
        </p:nvSpPr>
        <p:spPr>
          <a:xfrm>
            <a:off x="8348400" y="2331720"/>
            <a:ext cx="420120" cy="420120"/>
          </a:xfrm>
          <a:prstGeom prst="ellipse">
            <a:avLst/>
          </a:prstGeom>
          <a:solidFill>
            <a:srgbClr val="F2D77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5"/>
          <p:cNvSpPr/>
          <p:nvPr/>
        </p:nvSpPr>
        <p:spPr>
          <a:xfrm>
            <a:off x="8348400" y="23227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7171A"/>
                </a:solidFill>
                <a:latin typeface="Arial"/>
                <a:ea typeface="Arial"/>
              </a:rPr>
              <a:t>3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16"/>
          <p:cNvSpPr/>
          <p:nvPr/>
        </p:nvSpPr>
        <p:spPr>
          <a:xfrm>
            <a:off x="8897040" y="2359080"/>
            <a:ext cx="25599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F5F4F0"/>
                </a:solidFill>
                <a:latin typeface="Arial"/>
                <a:ea typeface="Arial"/>
              </a:rPr>
              <a:t>Every answer goes somewhere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17"/>
          <p:cNvSpPr/>
          <p:nvPr/>
        </p:nvSpPr>
        <p:spPr>
          <a:xfrm>
            <a:off x="8348400" y="301752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Correct continues. Incorrect opens an explanation, resources and a one-click jump back.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18"/>
          <p:cNvSpPr/>
          <p:nvPr/>
        </p:nvSpPr>
        <p:spPr>
          <a:xfrm>
            <a:off x="548640" y="4434840"/>
            <a:ext cx="3291480" cy="31068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9"/>
          <p:cNvSpPr/>
          <p:nvPr/>
        </p:nvSpPr>
        <p:spPr>
          <a:xfrm>
            <a:off x="548640" y="4425840"/>
            <a:ext cx="3291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97">
                <a:solidFill>
                  <a:srgbClr val="F2D774"/>
                </a:solidFill>
                <a:latin typeface="Arial"/>
                <a:ea typeface="Arial"/>
              </a:rPr>
              <a:t>◆  AI SCAN · 5 CONCEPT CHECKPOINTS PLACED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20"/>
          <p:cNvSpPr/>
          <p:nvPr/>
        </p:nvSpPr>
        <p:spPr>
          <a:xfrm>
            <a:off x="822960" y="5209920"/>
            <a:ext cx="10515240" cy="40680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5840" rIns="90000" bIns="-158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21"/>
          <p:cNvSpPr/>
          <p:nvPr/>
        </p:nvSpPr>
        <p:spPr>
          <a:xfrm>
            <a:off x="822960" y="5209920"/>
            <a:ext cx="360" cy="40680"/>
          </a:xfrm>
          <a:prstGeom prst="roundRect">
            <a:avLst>
              <a:gd name="adj" fmla="val 0"/>
            </a:avLst>
          </a:prstGeom>
          <a:solidFill>
            <a:srgbClr val="D633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22"/>
          <p:cNvSpPr/>
          <p:nvPr/>
        </p:nvSpPr>
        <p:spPr>
          <a:xfrm>
            <a:off x="763560" y="5171040"/>
            <a:ext cx="118440" cy="118440"/>
          </a:xfrm>
          <a:prstGeom prst="ellipse">
            <a:avLst/>
          </a:prstGeom>
          <a:solidFill>
            <a:srgbClr val="F5F4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23"/>
          <p:cNvSpPr/>
          <p:nvPr/>
        </p:nvSpPr>
        <p:spPr>
          <a:xfrm>
            <a:off x="1380600" y="5157360"/>
            <a:ext cx="145800" cy="14580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24"/>
          <p:cNvSpPr/>
          <p:nvPr/>
        </p:nvSpPr>
        <p:spPr>
          <a:xfrm>
            <a:off x="3483720" y="5157360"/>
            <a:ext cx="145800" cy="14580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25"/>
          <p:cNvSpPr/>
          <p:nvPr/>
        </p:nvSpPr>
        <p:spPr>
          <a:xfrm>
            <a:off x="5692320" y="5157360"/>
            <a:ext cx="145800" cy="14580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26"/>
          <p:cNvSpPr/>
          <p:nvPr/>
        </p:nvSpPr>
        <p:spPr>
          <a:xfrm>
            <a:off x="7900560" y="5157360"/>
            <a:ext cx="145800" cy="14580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27"/>
          <p:cNvSpPr/>
          <p:nvPr/>
        </p:nvSpPr>
        <p:spPr>
          <a:xfrm>
            <a:off x="10213920" y="5157360"/>
            <a:ext cx="145800" cy="14580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8"/>
          <p:cNvSpPr/>
          <p:nvPr/>
        </p:nvSpPr>
        <p:spPr>
          <a:xfrm>
            <a:off x="905400" y="54133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F2D774"/>
                </a:solidFill>
                <a:latin typeface="Courier New"/>
                <a:ea typeface="Courier New"/>
              </a:rPr>
              <a:t>0:30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29"/>
          <p:cNvSpPr/>
          <p:nvPr/>
        </p:nvSpPr>
        <p:spPr>
          <a:xfrm>
            <a:off x="539640" y="561456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A9A69C"/>
                </a:solidFill>
                <a:latin typeface="Calibri"/>
                <a:ea typeface="Calibri"/>
              </a:rPr>
              <a:t>Independence of motion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30"/>
          <p:cNvSpPr/>
          <p:nvPr/>
        </p:nvSpPr>
        <p:spPr>
          <a:xfrm>
            <a:off x="3008520" y="54133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F2D774"/>
                </a:solidFill>
                <a:latin typeface="Courier New"/>
                <a:ea typeface="Courier New"/>
              </a:rPr>
              <a:t>1:25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31"/>
          <p:cNvSpPr/>
          <p:nvPr/>
        </p:nvSpPr>
        <p:spPr>
          <a:xfrm>
            <a:off x="2642760" y="561456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A9A69C"/>
                </a:solidFill>
                <a:latin typeface="Calibri"/>
                <a:ea typeface="Calibri"/>
              </a:rPr>
              <a:t>Horizontal motion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32"/>
          <p:cNvSpPr/>
          <p:nvPr/>
        </p:nvSpPr>
        <p:spPr>
          <a:xfrm>
            <a:off x="5216760" y="54133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F2D774"/>
                </a:solidFill>
                <a:latin typeface="Courier New"/>
                <a:ea typeface="Courier New"/>
              </a:rPr>
              <a:t>2:50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33"/>
          <p:cNvSpPr/>
          <p:nvPr/>
        </p:nvSpPr>
        <p:spPr>
          <a:xfrm>
            <a:off x="4851000" y="561456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A9A69C"/>
                </a:solidFill>
                <a:latin typeface="Calibri"/>
                <a:ea typeface="Calibri"/>
              </a:rPr>
              <a:t>Vertical motion &amp; the peak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34"/>
          <p:cNvSpPr/>
          <p:nvPr/>
        </p:nvSpPr>
        <p:spPr>
          <a:xfrm>
            <a:off x="7425000" y="54133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F2D774"/>
                </a:solidFill>
                <a:latin typeface="Courier New"/>
                <a:ea typeface="Courier New"/>
              </a:rPr>
              <a:t>4:20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35"/>
          <p:cNvSpPr/>
          <p:nvPr/>
        </p:nvSpPr>
        <p:spPr>
          <a:xfrm>
            <a:off x="7059240" y="561456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A9A69C"/>
                </a:solidFill>
                <a:latin typeface="Calibri"/>
                <a:ea typeface="Calibri"/>
              </a:rPr>
              <a:t>Time of flight &amp; range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36"/>
          <p:cNvSpPr/>
          <p:nvPr/>
        </p:nvSpPr>
        <p:spPr>
          <a:xfrm>
            <a:off x="9738360" y="54133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F2D774"/>
                </a:solidFill>
                <a:latin typeface="Courier New"/>
                <a:ea typeface="Courier New"/>
              </a:rPr>
              <a:t>5:50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37"/>
          <p:cNvSpPr/>
          <p:nvPr/>
        </p:nvSpPr>
        <p:spPr>
          <a:xfrm>
            <a:off x="9372600" y="561456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A9A69C"/>
                </a:solidFill>
                <a:latin typeface="Calibri"/>
                <a:ea typeface="Calibri"/>
              </a:rPr>
              <a:t>Real-world application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38"/>
          <p:cNvSpPr/>
          <p:nvPr/>
        </p:nvSpPr>
        <p:spPr>
          <a:xfrm>
            <a:off x="548640" y="651060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199">
                <a:solidFill>
                  <a:srgbClr val="807D74"/>
                </a:solidFill>
                <a:latin typeface="Arial"/>
                <a:ea typeface="Arial"/>
              </a:rPr>
              <a:t>COGNIVUE  ·  GROUP 12  ·  FUTURE LEARNING CONCEPT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39"/>
          <p:cNvSpPr/>
          <p:nvPr/>
        </p:nvSpPr>
        <p:spPr>
          <a:xfrm>
            <a:off x="4989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40"/>
          <p:cNvSpPr/>
          <p:nvPr/>
        </p:nvSpPr>
        <p:spPr>
          <a:xfrm>
            <a:off x="52048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41"/>
          <p:cNvSpPr/>
          <p:nvPr/>
        </p:nvSpPr>
        <p:spPr>
          <a:xfrm>
            <a:off x="5398920" y="6567840"/>
            <a:ext cx="104760" cy="104760"/>
          </a:xfrm>
          <a:prstGeom prst="diamond">
            <a:avLst/>
          </a:prstGeom>
          <a:solidFill>
            <a:srgbClr val="F2D77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560" rIns="90000" bIns="75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42"/>
          <p:cNvSpPr/>
          <p:nvPr/>
        </p:nvSpPr>
        <p:spPr>
          <a:xfrm>
            <a:off x="56343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43"/>
          <p:cNvSpPr/>
          <p:nvPr/>
        </p:nvSpPr>
        <p:spPr>
          <a:xfrm>
            <a:off x="58492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44"/>
          <p:cNvSpPr/>
          <p:nvPr/>
        </p:nvSpPr>
        <p:spPr>
          <a:xfrm>
            <a:off x="60642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45"/>
          <p:cNvSpPr/>
          <p:nvPr/>
        </p:nvSpPr>
        <p:spPr>
          <a:xfrm>
            <a:off x="627912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46"/>
          <p:cNvSpPr/>
          <p:nvPr/>
        </p:nvSpPr>
        <p:spPr>
          <a:xfrm>
            <a:off x="649404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47"/>
          <p:cNvSpPr/>
          <p:nvPr/>
        </p:nvSpPr>
        <p:spPr>
          <a:xfrm>
            <a:off x="6708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48"/>
          <p:cNvSpPr/>
          <p:nvPr/>
        </p:nvSpPr>
        <p:spPr>
          <a:xfrm>
            <a:off x="69238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49"/>
          <p:cNvSpPr/>
          <p:nvPr/>
        </p:nvSpPr>
        <p:spPr>
          <a:xfrm>
            <a:off x="7138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548640" y="311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299">
                <a:solidFill>
                  <a:srgbClr val="F2D774"/>
                </a:solidFill>
                <a:latin typeface="Arial"/>
                <a:ea typeface="Arial"/>
              </a:rPr>
              <a:t>INSTANT FEEDBACK &amp; HYPERLINKS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548640" y="54864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5F4F0"/>
                </a:solidFill>
                <a:latin typeface="Arial"/>
                <a:ea typeface="Arial"/>
              </a:rPr>
              <a:t>A wrong answer becomes a thirty-second lesson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2"/>
          <p:cNvSpPr/>
          <p:nvPr/>
        </p:nvSpPr>
        <p:spPr>
          <a:xfrm>
            <a:off x="548640" y="1417320"/>
            <a:ext cx="5440320" cy="4617360"/>
          </a:xfrm>
          <a:prstGeom prst="roundRect">
            <a:avLst>
              <a:gd name="adj" fmla="val 1386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  <a:effectLst>
            <a:outerShdw blurRad="10152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777240" y="1618560"/>
            <a:ext cx="1782720" cy="27396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777240" y="160920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97">
                <a:solidFill>
                  <a:srgbClr val="F2D774"/>
                </a:solidFill>
                <a:latin typeface="Arial"/>
                <a:ea typeface="Arial"/>
              </a:rPr>
              <a:t>◆ CHECKPOINT 3 · 2:50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2697480" y="160020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5F4F0"/>
                </a:solidFill>
                <a:latin typeface="Arial"/>
                <a:ea typeface="Arial"/>
              </a:rPr>
              <a:t>Vertical motion &amp; the peak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777240" y="2039040"/>
            <a:ext cx="498312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F5F4F0"/>
                </a:solidFill>
                <a:latin typeface="Calibri"/>
                <a:ea typeface="Calibri"/>
              </a:rPr>
              <a:t>A ball is thrown straight up at 30 m/s. Taking g = 10 m/s², how long does it take to reach the peak?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777240" y="2770560"/>
            <a:ext cx="4983120" cy="493560"/>
          </a:xfrm>
          <a:prstGeom prst="roundRect">
            <a:avLst>
              <a:gd name="adj" fmla="val 12963"/>
            </a:avLst>
          </a:prstGeom>
          <a:solidFill>
            <a:srgbClr val="1D1D24"/>
          </a:solidFill>
          <a:ln w="12700">
            <a:solidFill>
              <a:srgbClr val="E0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960120" y="2770560"/>
            <a:ext cx="12340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5F4F0"/>
                </a:solidFill>
                <a:latin typeface="Courier New"/>
                <a:ea typeface="Courier New"/>
              </a:rPr>
              <a:t>A.  0.33 s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2240280" y="2770560"/>
            <a:ext cx="30171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A9A69C"/>
                </a:solidFill>
                <a:latin typeface="Calibri"/>
                <a:ea typeface="Calibri"/>
              </a:rPr>
              <a:t>the classic slip: dividing the wrong way (g ÷ v₀)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" name="Image 0" descr="/home/claude/icons/x_red.png"/>
          <p:cNvPicPr/>
          <p:nvPr/>
        </p:nvPicPr>
        <p:blipFill>
          <a:blip r:embed="rId3"/>
          <a:stretch/>
        </p:blipFill>
        <p:spPr>
          <a:xfrm>
            <a:off x="5367600" y="290772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26" name="Shape 10"/>
          <p:cNvSpPr/>
          <p:nvPr/>
        </p:nvSpPr>
        <p:spPr>
          <a:xfrm>
            <a:off x="777240" y="3374280"/>
            <a:ext cx="4983120" cy="493560"/>
          </a:xfrm>
          <a:prstGeom prst="roundRect">
            <a:avLst>
              <a:gd name="adj" fmla="val 12963"/>
            </a:avLst>
          </a:prstGeom>
          <a:solidFill>
            <a:srgbClr val="16211A"/>
          </a:solidFill>
          <a:ln w="19050">
            <a:solidFill>
              <a:srgbClr val="8FCB9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960120" y="3374280"/>
            <a:ext cx="12340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FCB92"/>
                </a:solidFill>
                <a:latin typeface="Courier New"/>
                <a:ea typeface="Courier New"/>
              </a:rPr>
              <a:t>B.  3 s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2"/>
          <p:cNvSpPr/>
          <p:nvPr/>
        </p:nvSpPr>
        <p:spPr>
          <a:xfrm>
            <a:off x="2240280" y="3374280"/>
            <a:ext cx="30171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A9A69C"/>
                </a:solidFill>
                <a:latin typeface="Calibri"/>
                <a:ea typeface="Calibri"/>
              </a:rPr>
              <a:t>correct: at the peak, v = 0, so t = v₀ / g = 30 / 10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9" name="Image 1" descr="/home/claude/icons/check_green.png"/>
          <p:cNvPicPr/>
          <p:nvPr/>
        </p:nvPicPr>
        <p:blipFill>
          <a:blip r:embed="rId4"/>
          <a:stretch/>
        </p:blipFill>
        <p:spPr>
          <a:xfrm>
            <a:off x="5367600" y="35114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30" name="Shape 13"/>
          <p:cNvSpPr/>
          <p:nvPr/>
        </p:nvSpPr>
        <p:spPr>
          <a:xfrm>
            <a:off x="777240" y="3977640"/>
            <a:ext cx="4983120" cy="493560"/>
          </a:xfrm>
          <a:prstGeom prst="roundRect">
            <a:avLst>
              <a:gd name="adj" fmla="val 12963"/>
            </a:avLst>
          </a:prstGeom>
          <a:solidFill>
            <a:srgbClr val="1D1D24"/>
          </a:solidFill>
          <a:ln w="12700">
            <a:solidFill>
              <a:srgbClr val="807D7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4"/>
          <p:cNvSpPr/>
          <p:nvPr/>
        </p:nvSpPr>
        <p:spPr>
          <a:xfrm>
            <a:off x="960120" y="3977640"/>
            <a:ext cx="12340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5F4F0"/>
                </a:solidFill>
                <a:latin typeface="Courier New"/>
                <a:ea typeface="Courier New"/>
              </a:rPr>
              <a:t>C.  −3 s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2240280" y="3977640"/>
            <a:ext cx="30171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A9A69C"/>
                </a:solidFill>
                <a:latin typeface="Calibri"/>
                <a:ea typeface="Calibri"/>
              </a:rPr>
              <a:t>a sign error in v = v₀ − gt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3" name="Image 2" descr="/home/claude/icons/x_red.png"/>
          <p:cNvPicPr/>
          <p:nvPr/>
        </p:nvPicPr>
        <p:blipFill>
          <a:blip r:embed="rId3"/>
          <a:stretch/>
        </p:blipFill>
        <p:spPr>
          <a:xfrm>
            <a:off x="5367600" y="41148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34" name="Shape 16"/>
          <p:cNvSpPr/>
          <p:nvPr/>
        </p:nvSpPr>
        <p:spPr>
          <a:xfrm>
            <a:off x="777240" y="4709160"/>
            <a:ext cx="4983120" cy="868320"/>
          </a:xfrm>
          <a:prstGeom prst="roundRect">
            <a:avLst>
              <a:gd name="adj" fmla="val 7368"/>
            </a:avLst>
          </a:prstGeom>
          <a:solidFill>
            <a:srgbClr val="EAE5D9"/>
          </a:solidFill>
          <a:ln w="12700">
            <a:solidFill>
              <a:srgbClr val="D6D0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7"/>
          <p:cNvSpPr/>
          <p:nvPr/>
        </p:nvSpPr>
        <p:spPr>
          <a:xfrm>
            <a:off x="960120" y="481896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199">
                <a:solidFill>
                  <a:srgbClr val="5C5750"/>
                </a:solidFill>
                <a:latin typeface="Arial"/>
                <a:ea typeface="Arial"/>
              </a:rPr>
              <a:t>TAKE NOTE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8"/>
          <p:cNvSpPr/>
          <p:nvPr/>
        </p:nvSpPr>
        <p:spPr>
          <a:xfrm>
            <a:off x="960120" y="5038200"/>
            <a:ext cx="4617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17171A"/>
                </a:solidFill>
                <a:latin typeface="Calibri"/>
                <a:ea typeface="Calibri"/>
              </a:rPr>
              <a:t>At the peak, vertical velocity is zero: t = v₀ / g = 3 s.   </a:t>
            </a:r>
            <a:r>
              <a:rPr lang="en-US" sz="1050" b="0" i="1" strike="noStrike" spc="-1">
                <a:solidFill>
                  <a:srgbClr val="5C5750"/>
                </a:solidFill>
                <a:latin typeface="Calibri"/>
                <a:ea typeface="Calibri"/>
              </a:rPr>
              <a:t>Saved to your notes · pinned to 2:50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19"/>
          <p:cNvSpPr/>
          <p:nvPr/>
        </p:nvSpPr>
        <p:spPr>
          <a:xfrm>
            <a:off x="777240" y="5687640"/>
            <a:ext cx="1234080" cy="25560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20"/>
          <p:cNvSpPr/>
          <p:nvPr/>
        </p:nvSpPr>
        <p:spPr>
          <a:xfrm>
            <a:off x="777240" y="5678280"/>
            <a:ext cx="12340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49">
                <a:solidFill>
                  <a:srgbClr val="F2D774"/>
                </a:solidFill>
                <a:latin typeface="Arial"/>
                <a:ea typeface="Arial"/>
              </a:rPr>
              <a:t>▶ REPLAY 2:50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21"/>
          <p:cNvSpPr/>
          <p:nvPr/>
        </p:nvSpPr>
        <p:spPr>
          <a:xfrm>
            <a:off x="2121480" y="5687640"/>
            <a:ext cx="840960" cy="25560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22"/>
          <p:cNvSpPr/>
          <p:nvPr/>
        </p:nvSpPr>
        <p:spPr>
          <a:xfrm>
            <a:off x="2121480" y="5678280"/>
            <a:ext cx="840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49">
                <a:solidFill>
                  <a:srgbClr val="F2D774"/>
                </a:solidFill>
                <a:latin typeface="Arial"/>
                <a:ea typeface="Arial"/>
              </a:rPr>
              <a:t>DIAGRAM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23"/>
          <p:cNvSpPr/>
          <p:nvPr/>
        </p:nvSpPr>
        <p:spPr>
          <a:xfrm>
            <a:off x="3072240" y="5687640"/>
            <a:ext cx="1298160" cy="25560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24"/>
          <p:cNvSpPr/>
          <p:nvPr/>
        </p:nvSpPr>
        <p:spPr>
          <a:xfrm>
            <a:off x="3072240" y="5678280"/>
            <a:ext cx="1298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49">
                <a:solidFill>
                  <a:srgbClr val="F2D774"/>
                </a:solidFill>
                <a:latin typeface="Arial"/>
                <a:ea typeface="Arial"/>
              </a:rPr>
              <a:t>WORKED EXAMPLE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25"/>
          <p:cNvSpPr/>
          <p:nvPr/>
        </p:nvSpPr>
        <p:spPr>
          <a:xfrm>
            <a:off x="4480560" y="5687640"/>
            <a:ext cx="968760" cy="25560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26"/>
          <p:cNvSpPr/>
          <p:nvPr/>
        </p:nvSpPr>
        <p:spPr>
          <a:xfrm>
            <a:off x="4480560" y="5678280"/>
            <a:ext cx="96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49">
                <a:solidFill>
                  <a:srgbClr val="F2D774"/>
                </a:solidFill>
                <a:latin typeface="Arial"/>
                <a:ea typeface="Arial"/>
              </a:rPr>
              <a:t>SIMPLIFIED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27"/>
          <p:cNvSpPr/>
          <p:nvPr/>
        </p:nvSpPr>
        <p:spPr>
          <a:xfrm>
            <a:off x="6263640" y="146304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6" name="Image 3" descr="/home/claude/icons/zap_yellow.png"/>
          <p:cNvPicPr/>
          <p:nvPr/>
        </p:nvPicPr>
        <p:blipFill>
          <a:blip r:embed="rId5"/>
          <a:stretch/>
        </p:blipFill>
        <p:spPr>
          <a:xfrm>
            <a:off x="6382440" y="15818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47" name="Text 28"/>
          <p:cNvSpPr/>
          <p:nvPr/>
        </p:nvSpPr>
        <p:spPr>
          <a:xfrm>
            <a:off x="6858000" y="143568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Instant feedback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29"/>
          <p:cNvSpPr/>
          <p:nvPr/>
        </p:nvSpPr>
        <p:spPr>
          <a:xfrm>
            <a:off x="6858000" y="1719000"/>
            <a:ext cx="47545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Correct continues the lecture. Wrong opens the answer and a plain-English why.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30"/>
          <p:cNvSpPr/>
          <p:nvPr/>
        </p:nvSpPr>
        <p:spPr>
          <a:xfrm>
            <a:off x="6263640" y="259704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0" name="Image 4" descr="/home/claude/icons/rotate_yellow.png"/>
          <p:cNvPicPr/>
          <p:nvPr/>
        </p:nvPicPr>
        <p:blipFill>
          <a:blip r:embed="rId6"/>
          <a:stretch/>
        </p:blipFill>
        <p:spPr>
          <a:xfrm>
            <a:off x="6382440" y="27158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51" name="Text 31"/>
          <p:cNvSpPr/>
          <p:nvPr/>
        </p:nvSpPr>
        <p:spPr>
          <a:xfrm>
            <a:off x="6858000" y="256932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Targeted help, not a rewatch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32"/>
          <p:cNvSpPr/>
          <p:nvPr/>
        </p:nvSpPr>
        <p:spPr>
          <a:xfrm>
            <a:off x="6858000" y="2853000"/>
            <a:ext cx="47545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One click replays 2:50, with linked diagrams and worked examples.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33"/>
          <p:cNvSpPr/>
          <p:nvPr/>
        </p:nvSpPr>
        <p:spPr>
          <a:xfrm>
            <a:off x="6263640" y="373068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4" name="Image 5" descr="/home/claude/icons/edit_yellow.png"/>
          <p:cNvPicPr/>
          <p:nvPr/>
        </p:nvPicPr>
        <p:blipFill>
          <a:blip r:embed="rId7"/>
          <a:stretch/>
        </p:blipFill>
        <p:spPr>
          <a:xfrm>
            <a:off x="6382440" y="38494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55" name="Text 34"/>
          <p:cNvSpPr/>
          <p:nvPr/>
        </p:nvSpPr>
        <p:spPr>
          <a:xfrm>
            <a:off x="6858000" y="370332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Take Note, pinned forever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35"/>
          <p:cNvSpPr/>
          <p:nvPr/>
        </p:nvSpPr>
        <p:spPr>
          <a:xfrm>
            <a:off x="6858000" y="3986640"/>
            <a:ext cx="47545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A one-line summary, saved to the exact timestamp.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36"/>
          <p:cNvSpPr/>
          <p:nvPr/>
        </p:nvSpPr>
        <p:spPr>
          <a:xfrm>
            <a:off x="6263640" y="486468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8" name="Image 6" descr="/home/claude/icons/sliders_yellow.png"/>
          <p:cNvPicPr/>
          <p:nvPr/>
        </p:nvPicPr>
        <p:blipFill>
          <a:blip r:embed="rId8"/>
          <a:stretch/>
        </p:blipFill>
        <p:spPr>
          <a:xfrm>
            <a:off x="6382440" y="49834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59" name="Text 37"/>
          <p:cNvSpPr/>
          <p:nvPr/>
        </p:nvSpPr>
        <p:spPr>
          <a:xfrm>
            <a:off x="6858000" y="483732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Retry, skip, or switch off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38"/>
          <p:cNvSpPr/>
          <p:nvPr/>
        </p:nvSpPr>
        <p:spPr>
          <a:xfrm>
            <a:off x="6858000" y="5120640"/>
            <a:ext cx="47545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Retries earn half points. Watch-only mode never interrupts.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39"/>
          <p:cNvSpPr/>
          <p:nvPr/>
        </p:nvSpPr>
        <p:spPr>
          <a:xfrm>
            <a:off x="548640" y="651060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199">
                <a:solidFill>
                  <a:srgbClr val="807D74"/>
                </a:solidFill>
                <a:latin typeface="Arial"/>
                <a:ea typeface="Arial"/>
              </a:rPr>
              <a:t>COGNIVUE  ·  GROUP 12  ·  FUTURE LEARNING CONCEPT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40"/>
          <p:cNvSpPr/>
          <p:nvPr/>
        </p:nvSpPr>
        <p:spPr>
          <a:xfrm>
            <a:off x="4989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41"/>
          <p:cNvSpPr/>
          <p:nvPr/>
        </p:nvSpPr>
        <p:spPr>
          <a:xfrm>
            <a:off x="52048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42"/>
          <p:cNvSpPr/>
          <p:nvPr/>
        </p:nvSpPr>
        <p:spPr>
          <a:xfrm>
            <a:off x="5419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43"/>
          <p:cNvSpPr/>
          <p:nvPr/>
        </p:nvSpPr>
        <p:spPr>
          <a:xfrm>
            <a:off x="5613840" y="6567840"/>
            <a:ext cx="104760" cy="104760"/>
          </a:xfrm>
          <a:prstGeom prst="diamond">
            <a:avLst/>
          </a:prstGeom>
          <a:solidFill>
            <a:srgbClr val="F2D77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560" rIns="90000" bIns="75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44"/>
          <p:cNvSpPr/>
          <p:nvPr/>
        </p:nvSpPr>
        <p:spPr>
          <a:xfrm>
            <a:off x="58492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45"/>
          <p:cNvSpPr/>
          <p:nvPr/>
        </p:nvSpPr>
        <p:spPr>
          <a:xfrm>
            <a:off x="60642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46"/>
          <p:cNvSpPr/>
          <p:nvPr/>
        </p:nvSpPr>
        <p:spPr>
          <a:xfrm>
            <a:off x="627912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47"/>
          <p:cNvSpPr/>
          <p:nvPr/>
        </p:nvSpPr>
        <p:spPr>
          <a:xfrm>
            <a:off x="649404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48"/>
          <p:cNvSpPr/>
          <p:nvPr/>
        </p:nvSpPr>
        <p:spPr>
          <a:xfrm>
            <a:off x="6708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49"/>
          <p:cNvSpPr/>
          <p:nvPr/>
        </p:nvSpPr>
        <p:spPr>
          <a:xfrm>
            <a:off x="69238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50"/>
          <p:cNvSpPr/>
          <p:nvPr/>
        </p:nvSpPr>
        <p:spPr>
          <a:xfrm>
            <a:off x="7138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/>
          <p:nvPr/>
        </p:nvSpPr>
        <p:spPr>
          <a:xfrm>
            <a:off x="548640" y="311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299">
                <a:solidFill>
                  <a:srgbClr val="F2D774"/>
                </a:solidFill>
                <a:latin typeface="Arial"/>
                <a:ea typeface="Arial"/>
              </a:rPr>
              <a:t>FOR STUDENTS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548640" y="54864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5F4F0"/>
                </a:solidFill>
                <a:latin typeface="Arial"/>
                <a:ea typeface="Arial"/>
              </a:rPr>
              <a:t>Exactly what to revise: you against the class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2"/>
          <p:cNvSpPr/>
          <p:nvPr/>
        </p:nvSpPr>
        <p:spPr>
          <a:xfrm>
            <a:off x="548640" y="1417320"/>
            <a:ext cx="6034680" cy="4480200"/>
          </a:xfrm>
          <a:prstGeom prst="roundRect">
            <a:avLst>
              <a:gd name="adj" fmla="val 1429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804600" y="1600200"/>
            <a:ext cx="5522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Concept results · Week 1 · Projectile Motion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4"/>
          <p:cNvSpPr/>
          <p:nvPr/>
        </p:nvSpPr>
        <p:spPr>
          <a:xfrm>
            <a:off x="804600" y="1892880"/>
            <a:ext cx="5522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07D74"/>
                </a:solidFill>
                <a:latin typeface="Calibri"/>
                <a:ea typeface="Calibri"/>
              </a:rPr>
              <a:t>Class first-try accuracy · n = 148, simulated · your attempts overlay as ✓ / ✗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5"/>
          <p:cNvSpPr/>
          <p:nvPr/>
        </p:nvSpPr>
        <p:spPr>
          <a:xfrm>
            <a:off x="804600" y="247788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5F4F0"/>
                </a:solidFill>
                <a:latin typeface="Calibri"/>
                <a:ea typeface="Calibri"/>
              </a:rPr>
              <a:t>Independence of motion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6"/>
          <p:cNvSpPr/>
          <p:nvPr/>
        </p:nvSpPr>
        <p:spPr>
          <a:xfrm>
            <a:off x="2971800" y="2532960"/>
            <a:ext cx="2742840" cy="145800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>
            <a:off x="2971800" y="2532960"/>
            <a:ext cx="1700280" cy="145800"/>
          </a:xfrm>
          <a:prstGeom prst="roundRect">
            <a:avLst>
              <a:gd name="adj" fmla="val 50000"/>
            </a:avLst>
          </a:prstGeom>
          <a:solidFill>
            <a:srgbClr val="6C86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5788080" y="2477880"/>
            <a:ext cx="548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A9A69C"/>
                </a:solidFill>
                <a:latin typeface="Courier New"/>
                <a:ea typeface="Courier New"/>
              </a:rPr>
              <a:t>62%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804600" y="304488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5F4F0"/>
                </a:solidFill>
                <a:latin typeface="Calibri"/>
                <a:ea typeface="Calibri"/>
              </a:rPr>
              <a:t>Horizontal motion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10"/>
          <p:cNvSpPr/>
          <p:nvPr/>
        </p:nvSpPr>
        <p:spPr>
          <a:xfrm>
            <a:off x="2971800" y="3099960"/>
            <a:ext cx="2742840" cy="145800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11"/>
          <p:cNvSpPr/>
          <p:nvPr/>
        </p:nvSpPr>
        <p:spPr>
          <a:xfrm>
            <a:off x="2971800" y="3099960"/>
            <a:ext cx="2139480" cy="145800"/>
          </a:xfrm>
          <a:prstGeom prst="roundRect">
            <a:avLst>
              <a:gd name="adj" fmla="val 50000"/>
            </a:avLst>
          </a:prstGeom>
          <a:solidFill>
            <a:srgbClr val="6C86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5788080" y="3044880"/>
            <a:ext cx="548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A9A69C"/>
                </a:solidFill>
                <a:latin typeface="Courier New"/>
                <a:ea typeface="Courier New"/>
              </a:rPr>
              <a:t>78%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13"/>
          <p:cNvSpPr/>
          <p:nvPr/>
        </p:nvSpPr>
        <p:spPr>
          <a:xfrm>
            <a:off x="804600" y="361188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5F4F0"/>
                </a:solidFill>
                <a:latin typeface="Calibri"/>
                <a:ea typeface="Calibri"/>
              </a:rPr>
              <a:t>Vertical motion &amp; the peak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14"/>
          <p:cNvSpPr/>
          <p:nvPr/>
        </p:nvSpPr>
        <p:spPr>
          <a:xfrm>
            <a:off x="2971800" y="3666600"/>
            <a:ext cx="2742840" cy="145800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15"/>
          <p:cNvSpPr/>
          <p:nvPr/>
        </p:nvSpPr>
        <p:spPr>
          <a:xfrm>
            <a:off x="2971800" y="3666600"/>
            <a:ext cx="1508400" cy="145800"/>
          </a:xfrm>
          <a:prstGeom prst="roundRect">
            <a:avLst>
              <a:gd name="adj" fmla="val 50000"/>
            </a:avLst>
          </a:prstGeom>
          <a:solidFill>
            <a:srgbClr val="E86A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6"/>
          <p:cNvSpPr/>
          <p:nvPr/>
        </p:nvSpPr>
        <p:spPr>
          <a:xfrm>
            <a:off x="5788080" y="3611880"/>
            <a:ext cx="548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A9A69C"/>
                </a:solidFill>
                <a:latin typeface="Courier New"/>
                <a:ea typeface="Courier New"/>
              </a:rPr>
              <a:t>55%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17"/>
          <p:cNvSpPr/>
          <p:nvPr/>
        </p:nvSpPr>
        <p:spPr>
          <a:xfrm>
            <a:off x="804600" y="417888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5F4F0"/>
                </a:solidFill>
                <a:latin typeface="Calibri"/>
                <a:ea typeface="Calibri"/>
              </a:rPr>
              <a:t>Time of flight &amp; range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18"/>
          <p:cNvSpPr/>
          <p:nvPr/>
        </p:nvSpPr>
        <p:spPr>
          <a:xfrm>
            <a:off x="2971800" y="4233600"/>
            <a:ext cx="2742840" cy="145800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19"/>
          <p:cNvSpPr/>
          <p:nvPr/>
        </p:nvSpPr>
        <p:spPr>
          <a:xfrm>
            <a:off x="2971800" y="4233600"/>
            <a:ext cx="1947240" cy="145800"/>
          </a:xfrm>
          <a:prstGeom prst="roundRect">
            <a:avLst>
              <a:gd name="adj" fmla="val 50000"/>
            </a:avLst>
          </a:prstGeom>
          <a:solidFill>
            <a:srgbClr val="6C86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20"/>
          <p:cNvSpPr/>
          <p:nvPr/>
        </p:nvSpPr>
        <p:spPr>
          <a:xfrm>
            <a:off x="5788080" y="4178880"/>
            <a:ext cx="548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A9A69C"/>
                </a:solidFill>
                <a:latin typeface="Courier New"/>
                <a:ea typeface="Courier New"/>
              </a:rPr>
              <a:t>71%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21"/>
          <p:cNvSpPr/>
          <p:nvPr/>
        </p:nvSpPr>
        <p:spPr>
          <a:xfrm>
            <a:off x="804600" y="474588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5F4F0"/>
                </a:solidFill>
                <a:latin typeface="Calibri"/>
                <a:ea typeface="Calibri"/>
              </a:rPr>
              <a:t>Real-world application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22"/>
          <p:cNvSpPr/>
          <p:nvPr/>
        </p:nvSpPr>
        <p:spPr>
          <a:xfrm>
            <a:off x="2971800" y="4800600"/>
            <a:ext cx="2742840" cy="145800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23"/>
          <p:cNvSpPr/>
          <p:nvPr/>
        </p:nvSpPr>
        <p:spPr>
          <a:xfrm>
            <a:off x="2971800" y="4800600"/>
            <a:ext cx="1810080" cy="145800"/>
          </a:xfrm>
          <a:prstGeom prst="roundRect">
            <a:avLst>
              <a:gd name="adj" fmla="val 50000"/>
            </a:avLst>
          </a:prstGeom>
          <a:solidFill>
            <a:srgbClr val="6C86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24"/>
          <p:cNvSpPr/>
          <p:nvPr/>
        </p:nvSpPr>
        <p:spPr>
          <a:xfrm>
            <a:off x="5788080" y="4745880"/>
            <a:ext cx="548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A9A69C"/>
                </a:solidFill>
                <a:latin typeface="Courier New"/>
                <a:ea typeface="Courier New"/>
              </a:rPr>
              <a:t>66%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25"/>
          <p:cNvSpPr/>
          <p:nvPr/>
        </p:nvSpPr>
        <p:spPr>
          <a:xfrm>
            <a:off x="804600" y="5459040"/>
            <a:ext cx="5522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strike="noStrike" spc="-1">
                <a:solidFill>
                  <a:srgbClr val="807D74"/>
                </a:solidFill>
                <a:latin typeface="Calibri"/>
                <a:ea typeface="Calibri"/>
              </a:rPr>
              <a:t>First-attempt accuracy · weakest concept highlighted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26"/>
          <p:cNvSpPr/>
          <p:nvPr/>
        </p:nvSpPr>
        <p:spPr>
          <a:xfrm>
            <a:off x="6812280" y="1417320"/>
            <a:ext cx="4827600" cy="1371240"/>
          </a:xfrm>
          <a:prstGeom prst="roundRect">
            <a:avLst>
              <a:gd name="adj" fmla="val 4667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27"/>
          <p:cNvSpPr/>
          <p:nvPr/>
        </p:nvSpPr>
        <p:spPr>
          <a:xfrm>
            <a:off x="7013520" y="1618560"/>
            <a:ext cx="438480" cy="43848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1" name="Image 0" descr="/home/claude/icons/flag_yellow.png"/>
          <p:cNvPicPr/>
          <p:nvPr/>
        </p:nvPicPr>
        <p:blipFill>
          <a:blip r:embed="rId3"/>
          <a:stretch/>
        </p:blipFill>
        <p:spPr>
          <a:xfrm>
            <a:off x="7127640" y="1732680"/>
            <a:ext cx="210240" cy="210240"/>
          </a:xfrm>
          <a:prstGeom prst="rect">
            <a:avLst/>
          </a:prstGeom>
          <a:ln w="0">
            <a:noFill/>
          </a:ln>
        </p:spPr>
      </p:pic>
      <p:sp>
        <p:nvSpPr>
          <p:cNvPr id="202" name="Text 28"/>
          <p:cNvSpPr/>
          <p:nvPr/>
        </p:nvSpPr>
        <p:spPr>
          <a:xfrm>
            <a:off x="7589520" y="1636920"/>
            <a:ext cx="3867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Focus next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29"/>
          <p:cNvSpPr/>
          <p:nvPr/>
        </p:nvSpPr>
        <p:spPr>
          <a:xfrm>
            <a:off x="7013520" y="2075760"/>
            <a:ext cx="44254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A9A69C"/>
                </a:solidFill>
                <a:latin typeface="Calibri"/>
                <a:ea typeface="Calibri"/>
              </a:rPr>
              <a:t>Weak topics flagged automatically, with rewatch links attached.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30"/>
          <p:cNvSpPr/>
          <p:nvPr/>
        </p:nvSpPr>
        <p:spPr>
          <a:xfrm>
            <a:off x="6812280" y="2971800"/>
            <a:ext cx="4827600" cy="1371240"/>
          </a:xfrm>
          <a:prstGeom prst="roundRect">
            <a:avLst>
              <a:gd name="adj" fmla="val 4667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31"/>
          <p:cNvSpPr/>
          <p:nvPr/>
        </p:nvSpPr>
        <p:spPr>
          <a:xfrm>
            <a:off x="7013520" y="3173040"/>
            <a:ext cx="438480" cy="43848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6" name="Image 1" descr="/home/claude/icons/refresh_yellow.png"/>
          <p:cNvPicPr/>
          <p:nvPr/>
        </p:nvPicPr>
        <p:blipFill>
          <a:blip r:embed="rId4"/>
          <a:stretch/>
        </p:blipFill>
        <p:spPr>
          <a:xfrm>
            <a:off x="7127640" y="3287160"/>
            <a:ext cx="210240" cy="210240"/>
          </a:xfrm>
          <a:prstGeom prst="rect">
            <a:avLst/>
          </a:prstGeom>
          <a:ln w="0">
            <a:noFill/>
          </a:ln>
        </p:spPr>
      </p:pic>
      <p:sp>
        <p:nvSpPr>
          <p:cNvPr id="207" name="Text 32"/>
          <p:cNvSpPr/>
          <p:nvPr/>
        </p:nvSpPr>
        <p:spPr>
          <a:xfrm>
            <a:off x="7589520" y="3191400"/>
            <a:ext cx="3867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Open to review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33"/>
          <p:cNvSpPr/>
          <p:nvPr/>
        </p:nvSpPr>
        <p:spPr>
          <a:xfrm>
            <a:off x="7013520" y="3630240"/>
            <a:ext cx="44254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A9A69C"/>
                </a:solidFill>
                <a:latin typeface="Calibri"/>
                <a:ea typeface="Calibri"/>
              </a:rPr>
              <a:t>Skipped or missed checkpoints queue for retry.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34"/>
          <p:cNvSpPr/>
          <p:nvPr/>
        </p:nvSpPr>
        <p:spPr>
          <a:xfrm>
            <a:off x="6812280" y="4526280"/>
            <a:ext cx="4827600" cy="1371240"/>
          </a:xfrm>
          <a:prstGeom prst="roundRect">
            <a:avLst>
              <a:gd name="adj" fmla="val 4667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35"/>
          <p:cNvSpPr/>
          <p:nvPr/>
        </p:nvSpPr>
        <p:spPr>
          <a:xfrm>
            <a:off x="7013520" y="4727520"/>
            <a:ext cx="438480" cy="43848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1" name="Image 2" descr="/home/claude/icons/filetext_yellow.png"/>
          <p:cNvPicPr/>
          <p:nvPr/>
        </p:nvPicPr>
        <p:blipFill>
          <a:blip r:embed="rId5"/>
          <a:stretch/>
        </p:blipFill>
        <p:spPr>
          <a:xfrm>
            <a:off x="7127640" y="4841640"/>
            <a:ext cx="210240" cy="210240"/>
          </a:xfrm>
          <a:prstGeom prst="rect">
            <a:avLst/>
          </a:prstGeom>
          <a:ln w="0">
            <a:noFill/>
          </a:ln>
        </p:spPr>
      </p:pic>
      <p:sp>
        <p:nvSpPr>
          <p:cNvPr id="212" name="Text 36"/>
          <p:cNvSpPr/>
          <p:nvPr/>
        </p:nvSpPr>
        <p:spPr>
          <a:xfrm>
            <a:off x="7589520" y="4745880"/>
            <a:ext cx="3867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Your checkpoint notes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37"/>
          <p:cNvSpPr/>
          <p:nvPr/>
        </p:nvSpPr>
        <p:spPr>
          <a:xfrm>
            <a:off x="7013520" y="5184720"/>
            <a:ext cx="44254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A9A69C"/>
                </a:solidFill>
                <a:latin typeface="Calibri"/>
                <a:ea typeface="Calibri"/>
              </a:rPr>
              <a:t>Every Take Note card, pinned to its timestamp. One click rewatches.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38"/>
          <p:cNvSpPr/>
          <p:nvPr/>
        </p:nvSpPr>
        <p:spPr>
          <a:xfrm>
            <a:off x="548640" y="651060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199">
                <a:solidFill>
                  <a:srgbClr val="807D74"/>
                </a:solidFill>
                <a:latin typeface="Arial"/>
                <a:ea typeface="Arial"/>
              </a:rPr>
              <a:t>COGNIVUE  ·  GROUP 12  ·  FUTURE LEARNING CONCEPT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39"/>
          <p:cNvSpPr/>
          <p:nvPr/>
        </p:nvSpPr>
        <p:spPr>
          <a:xfrm>
            <a:off x="4989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40"/>
          <p:cNvSpPr/>
          <p:nvPr/>
        </p:nvSpPr>
        <p:spPr>
          <a:xfrm>
            <a:off x="52048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41"/>
          <p:cNvSpPr/>
          <p:nvPr/>
        </p:nvSpPr>
        <p:spPr>
          <a:xfrm>
            <a:off x="5419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42"/>
          <p:cNvSpPr/>
          <p:nvPr/>
        </p:nvSpPr>
        <p:spPr>
          <a:xfrm>
            <a:off x="56343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43"/>
          <p:cNvSpPr/>
          <p:nvPr/>
        </p:nvSpPr>
        <p:spPr>
          <a:xfrm>
            <a:off x="5828760" y="6567840"/>
            <a:ext cx="104760" cy="104760"/>
          </a:xfrm>
          <a:prstGeom prst="diamond">
            <a:avLst/>
          </a:prstGeom>
          <a:solidFill>
            <a:srgbClr val="F2D77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560" rIns="90000" bIns="75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44"/>
          <p:cNvSpPr/>
          <p:nvPr/>
        </p:nvSpPr>
        <p:spPr>
          <a:xfrm>
            <a:off x="60642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45"/>
          <p:cNvSpPr/>
          <p:nvPr/>
        </p:nvSpPr>
        <p:spPr>
          <a:xfrm>
            <a:off x="627912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46"/>
          <p:cNvSpPr/>
          <p:nvPr/>
        </p:nvSpPr>
        <p:spPr>
          <a:xfrm>
            <a:off x="649404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47"/>
          <p:cNvSpPr/>
          <p:nvPr/>
        </p:nvSpPr>
        <p:spPr>
          <a:xfrm>
            <a:off x="6708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48"/>
          <p:cNvSpPr/>
          <p:nvPr/>
        </p:nvSpPr>
        <p:spPr>
          <a:xfrm>
            <a:off x="69238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49"/>
          <p:cNvSpPr/>
          <p:nvPr/>
        </p:nvSpPr>
        <p:spPr>
          <a:xfrm>
            <a:off x="7138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548640" y="311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299">
                <a:solidFill>
                  <a:srgbClr val="F2D774"/>
                </a:solidFill>
                <a:latin typeface="Arial"/>
                <a:ea typeface="Arial"/>
              </a:rPr>
              <a:t>ADAPTIVE LEARNING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1"/>
          <p:cNvSpPr/>
          <p:nvPr/>
        </p:nvSpPr>
        <p:spPr>
          <a:xfrm>
            <a:off x="548640" y="54864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5F4F0"/>
                </a:solidFill>
                <a:latin typeface="Arial"/>
                <a:ea typeface="Arial"/>
              </a:rPr>
              <a:t>The same lecture, a different pathway for every student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2"/>
          <p:cNvSpPr/>
          <p:nvPr/>
        </p:nvSpPr>
        <p:spPr>
          <a:xfrm>
            <a:off x="594360" y="148140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9" name="Image 0" descr="/home/claude/icons/compass_yellow.png"/>
          <p:cNvPicPr/>
          <p:nvPr/>
        </p:nvPicPr>
        <p:blipFill>
          <a:blip r:embed="rId3"/>
          <a:stretch/>
        </p:blipFill>
        <p:spPr>
          <a:xfrm>
            <a:off x="713160" y="16002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230" name="Text 3"/>
          <p:cNvSpPr/>
          <p:nvPr/>
        </p:nvSpPr>
        <p:spPr>
          <a:xfrm>
            <a:off x="1188720" y="145404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Personalised learning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4"/>
          <p:cNvSpPr/>
          <p:nvPr/>
        </p:nvSpPr>
        <p:spPr>
          <a:xfrm>
            <a:off x="1188720" y="173736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Every student's pathway shifts with their understanding.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5"/>
          <p:cNvSpPr/>
          <p:nvPr/>
        </p:nvSpPr>
        <p:spPr>
          <a:xfrm>
            <a:off x="594360" y="259704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3" name="Image 1" descr="/home/claude/icons/message_yellow.png"/>
          <p:cNvPicPr/>
          <p:nvPr/>
        </p:nvPicPr>
        <p:blipFill>
          <a:blip r:embed="rId4"/>
          <a:stretch/>
        </p:blipFill>
        <p:spPr>
          <a:xfrm>
            <a:off x="713160" y="27158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234" name="Text 6"/>
          <p:cNvSpPr/>
          <p:nvPr/>
        </p:nvSpPr>
        <p:spPr>
          <a:xfrm>
            <a:off x="1188720" y="256932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Intelligent feedback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7"/>
          <p:cNvSpPr/>
          <p:nvPr/>
        </p:nvSpPr>
        <p:spPr>
          <a:xfrm>
            <a:off x="1188720" y="285300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Short diagnostic questions after each concept, marked in real time.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8"/>
          <p:cNvSpPr/>
          <p:nvPr/>
        </p:nvSpPr>
        <p:spPr>
          <a:xfrm>
            <a:off x="594360" y="371232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7" name="Image 2" descr="/home/claude/icons/book_yellow.png"/>
          <p:cNvPicPr/>
          <p:nvPr/>
        </p:nvPicPr>
        <p:blipFill>
          <a:blip r:embed="rId5"/>
          <a:stretch/>
        </p:blipFill>
        <p:spPr>
          <a:xfrm>
            <a:off x="713160" y="38314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238" name="Text 9"/>
          <p:cNvSpPr/>
          <p:nvPr/>
        </p:nvSpPr>
        <p:spPr>
          <a:xfrm>
            <a:off x="1188720" y="368496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Adaptive teaching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10"/>
          <p:cNvSpPr/>
          <p:nvPr/>
        </p:nvSpPr>
        <p:spPr>
          <a:xfrm>
            <a:off x="1188720" y="396864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Every gap gets a personalised explanation, not a generic one.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11"/>
          <p:cNvSpPr/>
          <p:nvPr/>
        </p:nvSpPr>
        <p:spPr>
          <a:xfrm>
            <a:off x="594360" y="482796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1" name="Image 3" descr="/home/claude/icons/map_yellow.png"/>
          <p:cNvPicPr/>
          <p:nvPr/>
        </p:nvPicPr>
        <p:blipFill>
          <a:blip r:embed="rId6"/>
          <a:stretch/>
        </p:blipFill>
        <p:spPr>
          <a:xfrm>
            <a:off x="713160" y="494676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242" name="Text 12"/>
          <p:cNvSpPr/>
          <p:nvPr/>
        </p:nvSpPr>
        <p:spPr>
          <a:xfrm>
            <a:off x="1188720" y="480060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Real-world applications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13"/>
          <p:cNvSpPr/>
          <p:nvPr/>
        </p:nvSpPr>
        <p:spPr>
          <a:xfrm>
            <a:off x="1188720" y="508392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Concepts grounded in relatable scenarios, tailored to the degree.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14"/>
          <p:cNvSpPr/>
          <p:nvPr/>
        </p:nvSpPr>
        <p:spPr>
          <a:xfrm>
            <a:off x="6720840" y="1417320"/>
            <a:ext cx="4919040" cy="2121120"/>
          </a:xfrm>
          <a:prstGeom prst="roundRect">
            <a:avLst>
              <a:gd name="adj" fmla="val 3017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15"/>
          <p:cNvSpPr/>
          <p:nvPr/>
        </p:nvSpPr>
        <p:spPr>
          <a:xfrm>
            <a:off x="6958440" y="1581840"/>
            <a:ext cx="4443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Every answer changes the path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6" name="Image 4" descr="/home/claude/icons/check_green.png"/>
          <p:cNvPicPr/>
          <p:nvPr/>
        </p:nvPicPr>
        <p:blipFill>
          <a:blip r:embed="rId7"/>
          <a:stretch/>
        </p:blipFill>
        <p:spPr>
          <a:xfrm>
            <a:off x="6976800" y="20026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247" name="Text 16"/>
          <p:cNvSpPr/>
          <p:nvPr/>
        </p:nvSpPr>
        <p:spPr>
          <a:xfrm>
            <a:off x="7269480" y="1956960"/>
            <a:ext cx="4096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8FCB92"/>
                </a:solidFill>
                <a:latin typeface="Calibri"/>
                <a:ea typeface="Calibri"/>
              </a:rPr>
              <a:t>Correct</a:t>
            </a: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 continues the lecture, no interruption.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8" name="Image 5" descr="/home/claude/icons/x_red.png"/>
          <p:cNvPicPr/>
          <p:nvPr/>
        </p:nvPicPr>
        <p:blipFill>
          <a:blip r:embed="rId8"/>
          <a:stretch/>
        </p:blipFill>
        <p:spPr>
          <a:xfrm>
            <a:off x="6976800" y="23864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249" name="Text 17"/>
          <p:cNvSpPr/>
          <p:nvPr/>
        </p:nvSpPr>
        <p:spPr>
          <a:xfrm>
            <a:off x="7269480" y="2340720"/>
            <a:ext cx="4096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07A7A"/>
                </a:solidFill>
                <a:latin typeface="Calibri"/>
                <a:ea typeface="Calibri"/>
              </a:rPr>
              <a:t>Incorrect</a:t>
            </a: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 opens adaptive support: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18"/>
          <p:cNvSpPr/>
          <p:nvPr/>
        </p:nvSpPr>
        <p:spPr>
          <a:xfrm>
            <a:off x="6976800" y="2761560"/>
            <a:ext cx="776880" cy="25560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19"/>
          <p:cNvSpPr/>
          <p:nvPr/>
        </p:nvSpPr>
        <p:spPr>
          <a:xfrm>
            <a:off x="6976800" y="275220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49">
                <a:solidFill>
                  <a:srgbClr val="F2D774"/>
                </a:solidFill>
                <a:latin typeface="Arial"/>
                <a:ea typeface="Arial"/>
              </a:rPr>
              <a:t>REPLAY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20"/>
          <p:cNvSpPr/>
          <p:nvPr/>
        </p:nvSpPr>
        <p:spPr>
          <a:xfrm>
            <a:off x="7845480" y="2761560"/>
            <a:ext cx="868320" cy="25560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21"/>
          <p:cNvSpPr/>
          <p:nvPr/>
        </p:nvSpPr>
        <p:spPr>
          <a:xfrm>
            <a:off x="7845480" y="275220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49">
                <a:solidFill>
                  <a:srgbClr val="F2D774"/>
                </a:solidFill>
                <a:latin typeface="Arial"/>
                <a:ea typeface="Arial"/>
              </a:rPr>
              <a:t>DIAGRAM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22"/>
          <p:cNvSpPr/>
          <p:nvPr/>
        </p:nvSpPr>
        <p:spPr>
          <a:xfrm>
            <a:off x="8805600" y="2761560"/>
            <a:ext cx="1325520" cy="25560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23"/>
          <p:cNvSpPr/>
          <p:nvPr/>
        </p:nvSpPr>
        <p:spPr>
          <a:xfrm>
            <a:off x="8805600" y="27522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49">
                <a:solidFill>
                  <a:srgbClr val="F2D774"/>
                </a:solidFill>
                <a:latin typeface="Arial"/>
                <a:ea typeface="Arial"/>
              </a:rPr>
              <a:t>WORKED EXAMPLE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24"/>
          <p:cNvSpPr/>
          <p:nvPr/>
        </p:nvSpPr>
        <p:spPr>
          <a:xfrm>
            <a:off x="10222920" y="2761560"/>
            <a:ext cx="1005480" cy="25560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25"/>
          <p:cNvSpPr/>
          <p:nvPr/>
        </p:nvSpPr>
        <p:spPr>
          <a:xfrm>
            <a:off x="10222920" y="275220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49">
                <a:solidFill>
                  <a:srgbClr val="F2D774"/>
                </a:solidFill>
                <a:latin typeface="Arial"/>
                <a:ea typeface="Arial"/>
              </a:rPr>
              <a:t>SIMPLIFIED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26"/>
          <p:cNvSpPr/>
          <p:nvPr/>
        </p:nvSpPr>
        <p:spPr>
          <a:xfrm>
            <a:off x="6976800" y="3145680"/>
            <a:ext cx="4407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strike="noStrike" spc="-1">
                <a:solidFill>
                  <a:srgbClr val="807D74"/>
                </a:solidFill>
                <a:latin typeface="Calibri"/>
                <a:ea typeface="Calibri"/>
              </a:rPr>
              <a:t>A re-check follows, and the pathway adapts until it sticks.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27"/>
          <p:cNvSpPr/>
          <p:nvPr/>
        </p:nvSpPr>
        <p:spPr>
          <a:xfrm>
            <a:off x="6720840" y="3703320"/>
            <a:ext cx="4919040" cy="2331360"/>
          </a:xfrm>
          <a:prstGeom prst="roundRect">
            <a:avLst>
              <a:gd name="adj" fmla="val 2745"/>
            </a:avLst>
          </a:prstGeom>
          <a:solidFill>
            <a:srgbClr val="EAE5D9"/>
          </a:solidFill>
          <a:ln w="12700">
            <a:solidFill>
              <a:srgbClr val="D6D0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28"/>
          <p:cNvSpPr/>
          <p:nvPr/>
        </p:nvSpPr>
        <p:spPr>
          <a:xfrm>
            <a:off x="6958440" y="3849480"/>
            <a:ext cx="44434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148">
                <a:solidFill>
                  <a:srgbClr val="5C5750"/>
                </a:solidFill>
                <a:latin typeface="Arial"/>
                <a:ea typeface="Arial"/>
              </a:rPr>
              <a:t>REAL-WORLD APPLICATION · GENERATED FOR 2:50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29"/>
          <p:cNvSpPr/>
          <p:nvPr/>
        </p:nvSpPr>
        <p:spPr>
          <a:xfrm>
            <a:off x="6958440" y="4105800"/>
            <a:ext cx="4443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17171A"/>
                </a:solidFill>
                <a:latin typeface="Calibri"/>
                <a:ea typeface="Calibri"/>
              </a:rPr>
              <a:t>“Think of a basketball shot. The launch angle decides the arc: past 45° you gain height but lose range.”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30"/>
          <p:cNvSpPr/>
          <p:nvPr/>
        </p:nvSpPr>
        <p:spPr>
          <a:xfrm>
            <a:off x="7201080" y="5637240"/>
            <a:ext cx="45360" cy="45360"/>
          </a:xfrm>
          <a:prstGeom prst="ellipse">
            <a:avLst/>
          </a:prstGeom>
          <a:solidFill>
            <a:srgbClr val="5C57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600" rIns="90000" bIns="-126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31"/>
          <p:cNvSpPr/>
          <p:nvPr/>
        </p:nvSpPr>
        <p:spPr>
          <a:xfrm>
            <a:off x="7542000" y="5439600"/>
            <a:ext cx="45360" cy="45360"/>
          </a:xfrm>
          <a:prstGeom prst="ellipse">
            <a:avLst/>
          </a:prstGeom>
          <a:solidFill>
            <a:srgbClr val="5C57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600" rIns="90000" bIns="-126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Shape 32"/>
          <p:cNvSpPr/>
          <p:nvPr/>
        </p:nvSpPr>
        <p:spPr>
          <a:xfrm>
            <a:off x="7882920" y="5286240"/>
            <a:ext cx="45360" cy="45360"/>
          </a:xfrm>
          <a:prstGeom prst="ellipse">
            <a:avLst/>
          </a:prstGeom>
          <a:solidFill>
            <a:srgbClr val="5C57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600" rIns="90000" bIns="-126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33"/>
          <p:cNvSpPr/>
          <p:nvPr/>
        </p:nvSpPr>
        <p:spPr>
          <a:xfrm>
            <a:off x="8224200" y="5176440"/>
            <a:ext cx="45360" cy="45360"/>
          </a:xfrm>
          <a:prstGeom prst="ellipse">
            <a:avLst/>
          </a:prstGeom>
          <a:solidFill>
            <a:srgbClr val="5C57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600" rIns="90000" bIns="-126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34"/>
          <p:cNvSpPr/>
          <p:nvPr/>
        </p:nvSpPr>
        <p:spPr>
          <a:xfrm>
            <a:off x="8565120" y="5110560"/>
            <a:ext cx="45360" cy="45360"/>
          </a:xfrm>
          <a:prstGeom prst="ellipse">
            <a:avLst/>
          </a:prstGeom>
          <a:solidFill>
            <a:srgbClr val="5C57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600" rIns="90000" bIns="-126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Shape 35"/>
          <p:cNvSpPr/>
          <p:nvPr/>
        </p:nvSpPr>
        <p:spPr>
          <a:xfrm>
            <a:off x="8906400" y="5088600"/>
            <a:ext cx="45360" cy="45360"/>
          </a:xfrm>
          <a:prstGeom prst="ellipse">
            <a:avLst/>
          </a:prstGeom>
          <a:solidFill>
            <a:srgbClr val="5C57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600" rIns="90000" bIns="-126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36"/>
          <p:cNvSpPr/>
          <p:nvPr/>
        </p:nvSpPr>
        <p:spPr>
          <a:xfrm>
            <a:off x="9247320" y="5110560"/>
            <a:ext cx="45360" cy="45360"/>
          </a:xfrm>
          <a:prstGeom prst="ellipse">
            <a:avLst/>
          </a:prstGeom>
          <a:solidFill>
            <a:srgbClr val="5C57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600" rIns="90000" bIns="-126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37"/>
          <p:cNvSpPr/>
          <p:nvPr/>
        </p:nvSpPr>
        <p:spPr>
          <a:xfrm>
            <a:off x="9588240" y="5176440"/>
            <a:ext cx="45360" cy="45360"/>
          </a:xfrm>
          <a:prstGeom prst="ellipse">
            <a:avLst/>
          </a:prstGeom>
          <a:solidFill>
            <a:srgbClr val="5C57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600" rIns="90000" bIns="-126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38"/>
          <p:cNvSpPr/>
          <p:nvPr/>
        </p:nvSpPr>
        <p:spPr>
          <a:xfrm>
            <a:off x="9929520" y="5286240"/>
            <a:ext cx="45360" cy="45360"/>
          </a:xfrm>
          <a:prstGeom prst="ellipse">
            <a:avLst/>
          </a:prstGeom>
          <a:solidFill>
            <a:srgbClr val="5C57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600" rIns="90000" bIns="-126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39"/>
          <p:cNvSpPr/>
          <p:nvPr/>
        </p:nvSpPr>
        <p:spPr>
          <a:xfrm>
            <a:off x="10270440" y="5439600"/>
            <a:ext cx="45360" cy="45360"/>
          </a:xfrm>
          <a:prstGeom prst="ellipse">
            <a:avLst/>
          </a:prstGeom>
          <a:solidFill>
            <a:srgbClr val="5C57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600" rIns="90000" bIns="-126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40"/>
          <p:cNvSpPr/>
          <p:nvPr/>
        </p:nvSpPr>
        <p:spPr>
          <a:xfrm>
            <a:off x="10611720" y="5637240"/>
            <a:ext cx="45360" cy="45360"/>
          </a:xfrm>
          <a:prstGeom prst="ellipse">
            <a:avLst/>
          </a:prstGeom>
          <a:solidFill>
            <a:srgbClr val="5C57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600" rIns="90000" bIns="-126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41"/>
          <p:cNvSpPr/>
          <p:nvPr/>
        </p:nvSpPr>
        <p:spPr>
          <a:xfrm>
            <a:off x="7141320" y="5577840"/>
            <a:ext cx="164160" cy="164160"/>
          </a:xfrm>
          <a:prstGeom prst="ellipse">
            <a:avLst/>
          </a:prstGeom>
          <a:solidFill>
            <a:srgbClr val="D633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42"/>
          <p:cNvSpPr/>
          <p:nvPr/>
        </p:nvSpPr>
        <p:spPr>
          <a:xfrm>
            <a:off x="10598040" y="5628240"/>
            <a:ext cx="182520" cy="82080"/>
          </a:xfrm>
          <a:prstGeom prst="ellipse">
            <a:avLst/>
          </a:prstGeom>
          <a:solidFill>
            <a:srgbClr val="EAE5D9"/>
          </a:solidFill>
          <a:ln w="19050">
            <a:solidFill>
              <a:srgbClr val="5C57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43"/>
          <p:cNvSpPr/>
          <p:nvPr/>
        </p:nvSpPr>
        <p:spPr>
          <a:xfrm>
            <a:off x="6958440" y="5769720"/>
            <a:ext cx="4443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5C5750"/>
                </a:solidFill>
                <a:latin typeface="Courier New"/>
                <a:ea typeface="Courier New"/>
              </a:rPr>
              <a:t>θ = 45° → maximum range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44"/>
          <p:cNvSpPr/>
          <p:nvPr/>
        </p:nvSpPr>
        <p:spPr>
          <a:xfrm>
            <a:off x="548640" y="651060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199">
                <a:solidFill>
                  <a:srgbClr val="807D74"/>
                </a:solidFill>
                <a:latin typeface="Arial"/>
                <a:ea typeface="Arial"/>
              </a:rPr>
              <a:t>COGNIVUE  ·  GROUP 12  ·  FUTURE LEARNING CONCEPT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45"/>
          <p:cNvSpPr/>
          <p:nvPr/>
        </p:nvSpPr>
        <p:spPr>
          <a:xfrm>
            <a:off x="4989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46"/>
          <p:cNvSpPr/>
          <p:nvPr/>
        </p:nvSpPr>
        <p:spPr>
          <a:xfrm>
            <a:off x="52048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Shape 47"/>
          <p:cNvSpPr/>
          <p:nvPr/>
        </p:nvSpPr>
        <p:spPr>
          <a:xfrm>
            <a:off x="5419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Shape 48"/>
          <p:cNvSpPr/>
          <p:nvPr/>
        </p:nvSpPr>
        <p:spPr>
          <a:xfrm>
            <a:off x="56343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49"/>
          <p:cNvSpPr/>
          <p:nvPr/>
        </p:nvSpPr>
        <p:spPr>
          <a:xfrm>
            <a:off x="58492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50"/>
          <p:cNvSpPr/>
          <p:nvPr/>
        </p:nvSpPr>
        <p:spPr>
          <a:xfrm>
            <a:off x="6043680" y="6567840"/>
            <a:ext cx="104760" cy="104760"/>
          </a:xfrm>
          <a:prstGeom prst="diamond">
            <a:avLst/>
          </a:prstGeom>
          <a:solidFill>
            <a:srgbClr val="F2D77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560" rIns="90000" bIns="75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51"/>
          <p:cNvSpPr/>
          <p:nvPr/>
        </p:nvSpPr>
        <p:spPr>
          <a:xfrm>
            <a:off x="627912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52"/>
          <p:cNvSpPr/>
          <p:nvPr/>
        </p:nvSpPr>
        <p:spPr>
          <a:xfrm>
            <a:off x="649404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53"/>
          <p:cNvSpPr/>
          <p:nvPr/>
        </p:nvSpPr>
        <p:spPr>
          <a:xfrm>
            <a:off x="6708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54"/>
          <p:cNvSpPr/>
          <p:nvPr/>
        </p:nvSpPr>
        <p:spPr>
          <a:xfrm>
            <a:off x="69238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Shape 55"/>
          <p:cNvSpPr/>
          <p:nvPr/>
        </p:nvSpPr>
        <p:spPr>
          <a:xfrm>
            <a:off x="7138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0"/>
          <p:cNvSpPr/>
          <p:nvPr/>
        </p:nvSpPr>
        <p:spPr>
          <a:xfrm>
            <a:off x="548640" y="311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299">
                <a:solidFill>
                  <a:srgbClr val="F2D774"/>
                </a:solidFill>
                <a:latin typeface="Arial"/>
                <a:ea typeface="Arial"/>
              </a:rPr>
              <a:t>GAMIFIED ENGAGEMENT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1"/>
          <p:cNvSpPr/>
          <p:nvPr/>
        </p:nvSpPr>
        <p:spPr>
          <a:xfrm>
            <a:off x="548640" y="54864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5F4F0"/>
                </a:solidFill>
                <a:latin typeface="Arial"/>
                <a:ea typeface="Arial"/>
              </a:rPr>
              <a:t>Competitive enough to engage, private enough to be safe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2"/>
          <p:cNvSpPr/>
          <p:nvPr/>
        </p:nvSpPr>
        <p:spPr>
          <a:xfrm>
            <a:off x="548640" y="1417320"/>
            <a:ext cx="5806080" cy="4480200"/>
          </a:xfrm>
          <a:prstGeom prst="roundRect">
            <a:avLst>
              <a:gd name="adj" fmla="val 1429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3"/>
          <p:cNvSpPr/>
          <p:nvPr/>
        </p:nvSpPr>
        <p:spPr>
          <a:xfrm>
            <a:off x="804600" y="1600200"/>
            <a:ext cx="5294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PHYS1001 · Weeks 1 &amp; 2 checkpoints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4"/>
          <p:cNvSpPr/>
          <p:nvPr/>
        </p:nvSpPr>
        <p:spPr>
          <a:xfrm>
            <a:off x="804600" y="1892880"/>
            <a:ext cx="5294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07D74"/>
                </a:solidFill>
                <a:latin typeface="Calibri"/>
                <a:ea typeface="Calibri"/>
              </a:rPr>
              <a:t>2,700 pts available · opt-in · never official marks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Shape 5"/>
          <p:cNvSpPr/>
          <p:nvPr/>
        </p:nvSpPr>
        <p:spPr>
          <a:xfrm>
            <a:off x="804600" y="2286000"/>
            <a:ext cx="1682280" cy="1051200"/>
          </a:xfrm>
          <a:prstGeom prst="roundRect">
            <a:avLst>
              <a:gd name="adj" fmla="val 6087"/>
            </a:avLst>
          </a:prstGeom>
          <a:solidFill>
            <a:srgbClr val="241F12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6"/>
          <p:cNvSpPr/>
          <p:nvPr/>
        </p:nvSpPr>
        <p:spPr>
          <a:xfrm>
            <a:off x="1490400" y="2395800"/>
            <a:ext cx="310680" cy="310680"/>
          </a:xfrm>
          <a:prstGeom prst="ellipse">
            <a:avLst/>
          </a:prstGeom>
          <a:solidFill>
            <a:srgbClr val="F2D77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7"/>
          <p:cNvSpPr/>
          <p:nvPr/>
        </p:nvSpPr>
        <p:spPr>
          <a:xfrm>
            <a:off x="1490400" y="2386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7171A"/>
                </a:solidFill>
                <a:latin typeface="Arial"/>
                <a:ea typeface="Arial"/>
              </a:rPr>
              <a:t>1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8"/>
          <p:cNvSpPr/>
          <p:nvPr/>
        </p:nvSpPr>
        <p:spPr>
          <a:xfrm>
            <a:off x="804600" y="2743200"/>
            <a:ext cx="1682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5F4F0"/>
                </a:solidFill>
                <a:latin typeface="Arial"/>
                <a:ea typeface="Arial"/>
              </a:rPr>
              <a:t>Aisha K.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9"/>
          <p:cNvSpPr/>
          <p:nvPr/>
        </p:nvSpPr>
        <p:spPr>
          <a:xfrm>
            <a:off x="804600" y="2999160"/>
            <a:ext cx="16822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E86A93"/>
                </a:solidFill>
                <a:latin typeface="Courier New"/>
                <a:ea typeface="Courier New"/>
              </a:rPr>
              <a:t>2,610 pts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Shape 10"/>
          <p:cNvSpPr/>
          <p:nvPr/>
        </p:nvSpPr>
        <p:spPr>
          <a:xfrm>
            <a:off x="2615040" y="2286000"/>
            <a:ext cx="1682280" cy="1051200"/>
          </a:xfrm>
          <a:prstGeom prst="roundRect">
            <a:avLst>
              <a:gd name="adj" fmla="val 6087"/>
            </a:avLst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11"/>
          <p:cNvSpPr/>
          <p:nvPr/>
        </p:nvSpPr>
        <p:spPr>
          <a:xfrm>
            <a:off x="3300840" y="2395800"/>
            <a:ext cx="310680" cy="310680"/>
          </a:xfrm>
          <a:prstGeom prst="ellipse">
            <a:avLst/>
          </a:prstGeom>
          <a:solidFill>
            <a:srgbClr val="F2D77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12"/>
          <p:cNvSpPr/>
          <p:nvPr/>
        </p:nvSpPr>
        <p:spPr>
          <a:xfrm>
            <a:off x="3300840" y="2386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7171A"/>
                </a:solidFill>
                <a:latin typeface="Arial"/>
                <a:ea typeface="Arial"/>
              </a:rPr>
              <a:t>2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13"/>
          <p:cNvSpPr/>
          <p:nvPr/>
        </p:nvSpPr>
        <p:spPr>
          <a:xfrm>
            <a:off x="2615040" y="2743200"/>
            <a:ext cx="1682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5F4F0"/>
                </a:solidFill>
                <a:latin typeface="Arial"/>
                <a:ea typeface="Arial"/>
              </a:rPr>
              <a:t>Liam T.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14"/>
          <p:cNvSpPr/>
          <p:nvPr/>
        </p:nvSpPr>
        <p:spPr>
          <a:xfrm>
            <a:off x="2615040" y="2999160"/>
            <a:ext cx="16822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E86A93"/>
                </a:solidFill>
                <a:latin typeface="Courier New"/>
                <a:ea typeface="Courier New"/>
              </a:rPr>
              <a:t>2,455 pts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15"/>
          <p:cNvSpPr/>
          <p:nvPr/>
        </p:nvSpPr>
        <p:spPr>
          <a:xfrm>
            <a:off x="4425840" y="2286000"/>
            <a:ext cx="1682280" cy="1051200"/>
          </a:xfrm>
          <a:prstGeom prst="roundRect">
            <a:avLst>
              <a:gd name="adj" fmla="val 6087"/>
            </a:avLst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16"/>
          <p:cNvSpPr/>
          <p:nvPr/>
        </p:nvSpPr>
        <p:spPr>
          <a:xfrm>
            <a:off x="5111640" y="2395800"/>
            <a:ext cx="310680" cy="310680"/>
          </a:xfrm>
          <a:prstGeom prst="ellipse">
            <a:avLst/>
          </a:prstGeom>
          <a:solidFill>
            <a:srgbClr val="F2D77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17"/>
          <p:cNvSpPr/>
          <p:nvPr/>
        </p:nvSpPr>
        <p:spPr>
          <a:xfrm>
            <a:off x="5111640" y="2386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7171A"/>
                </a:solidFill>
                <a:latin typeface="Arial"/>
                <a:ea typeface="Arial"/>
              </a:rPr>
              <a:t>3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18"/>
          <p:cNvSpPr/>
          <p:nvPr/>
        </p:nvSpPr>
        <p:spPr>
          <a:xfrm>
            <a:off x="4425840" y="2743200"/>
            <a:ext cx="1682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5F4F0"/>
                </a:solidFill>
                <a:latin typeface="Arial"/>
                <a:ea typeface="Arial"/>
              </a:rPr>
              <a:t>Mei C.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19"/>
          <p:cNvSpPr/>
          <p:nvPr/>
        </p:nvSpPr>
        <p:spPr>
          <a:xfrm>
            <a:off x="4425840" y="2999160"/>
            <a:ext cx="16822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E86A93"/>
                </a:solidFill>
                <a:latin typeface="Courier New"/>
                <a:ea typeface="Courier New"/>
              </a:rPr>
              <a:t>2,320 pts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20"/>
          <p:cNvSpPr/>
          <p:nvPr/>
        </p:nvSpPr>
        <p:spPr>
          <a:xfrm>
            <a:off x="868680" y="3566160"/>
            <a:ext cx="365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07D74"/>
                </a:solidFill>
                <a:latin typeface="Courier New"/>
                <a:ea typeface="Courier New"/>
              </a:rPr>
              <a:t>4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21"/>
          <p:cNvSpPr/>
          <p:nvPr/>
        </p:nvSpPr>
        <p:spPr>
          <a:xfrm>
            <a:off x="1325880" y="356616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A9A69C"/>
                </a:solidFill>
                <a:latin typeface="Calibri"/>
                <a:ea typeface="Calibri"/>
              </a:rPr>
              <a:t>Anonymous student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22"/>
          <p:cNvSpPr/>
          <p:nvPr/>
        </p:nvSpPr>
        <p:spPr>
          <a:xfrm>
            <a:off x="5120640" y="3566160"/>
            <a:ext cx="959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A9A69C"/>
                </a:solidFill>
                <a:latin typeface="Courier New"/>
                <a:ea typeface="Courier New"/>
              </a:rPr>
              <a:t>2,105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23"/>
          <p:cNvSpPr/>
          <p:nvPr/>
        </p:nvSpPr>
        <p:spPr>
          <a:xfrm>
            <a:off x="868680" y="3950280"/>
            <a:ext cx="365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07D74"/>
                </a:solidFill>
                <a:latin typeface="Courier New"/>
                <a:ea typeface="Courier New"/>
              </a:rPr>
              <a:t>5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24"/>
          <p:cNvSpPr/>
          <p:nvPr/>
        </p:nvSpPr>
        <p:spPr>
          <a:xfrm>
            <a:off x="1325880" y="395028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A9A69C"/>
                </a:solidFill>
                <a:latin typeface="Calibri"/>
                <a:ea typeface="Calibri"/>
              </a:rPr>
              <a:t>Anonymous student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25"/>
          <p:cNvSpPr/>
          <p:nvPr/>
        </p:nvSpPr>
        <p:spPr>
          <a:xfrm>
            <a:off x="5120640" y="3950280"/>
            <a:ext cx="959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A9A69C"/>
                </a:solidFill>
                <a:latin typeface="Courier New"/>
                <a:ea typeface="Courier New"/>
              </a:rPr>
              <a:t>1,880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26"/>
          <p:cNvSpPr/>
          <p:nvPr/>
        </p:nvSpPr>
        <p:spPr>
          <a:xfrm>
            <a:off x="868680" y="4334400"/>
            <a:ext cx="365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07D74"/>
                </a:solidFill>
                <a:latin typeface="Courier New"/>
                <a:ea typeface="Courier New"/>
              </a:rPr>
              <a:t>6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27"/>
          <p:cNvSpPr/>
          <p:nvPr/>
        </p:nvSpPr>
        <p:spPr>
          <a:xfrm>
            <a:off x="1325880" y="433440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A9A69C"/>
                </a:solidFill>
                <a:latin typeface="Calibri"/>
                <a:ea typeface="Calibri"/>
              </a:rPr>
              <a:t>Anonymous student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28"/>
          <p:cNvSpPr/>
          <p:nvPr/>
        </p:nvSpPr>
        <p:spPr>
          <a:xfrm>
            <a:off x="5120640" y="4334400"/>
            <a:ext cx="959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A9A69C"/>
                </a:solidFill>
                <a:latin typeface="Courier New"/>
                <a:ea typeface="Courier New"/>
              </a:rPr>
              <a:t>1,690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29"/>
          <p:cNvSpPr/>
          <p:nvPr/>
        </p:nvSpPr>
        <p:spPr>
          <a:xfrm>
            <a:off x="1325880" y="470916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07D74"/>
                </a:solidFill>
                <a:latin typeface="Arial"/>
                <a:ea typeface="Arial"/>
              </a:rPr>
              <a:t>· · ·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30"/>
          <p:cNvSpPr/>
          <p:nvPr/>
        </p:nvSpPr>
        <p:spPr>
          <a:xfrm>
            <a:off x="804600" y="5001840"/>
            <a:ext cx="5294160" cy="456840"/>
          </a:xfrm>
          <a:prstGeom prst="roundRect">
            <a:avLst>
              <a:gd name="adj" fmla="val 14000"/>
            </a:avLst>
          </a:prstGeom>
          <a:solidFill>
            <a:srgbClr val="241F12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31"/>
          <p:cNvSpPr/>
          <p:nvPr/>
        </p:nvSpPr>
        <p:spPr>
          <a:xfrm>
            <a:off x="932760" y="5074920"/>
            <a:ext cx="365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2D774"/>
                </a:solidFill>
                <a:latin typeface="Courier New"/>
                <a:ea typeface="Courier New"/>
              </a:rPr>
              <a:t>10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32"/>
          <p:cNvSpPr/>
          <p:nvPr/>
        </p:nvSpPr>
        <p:spPr>
          <a:xfrm>
            <a:off x="1389960" y="5074920"/>
            <a:ext cx="548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5F4F0"/>
                </a:solidFill>
                <a:latin typeface="Calibri"/>
                <a:ea typeface="Calibri"/>
              </a:rPr>
              <a:t>You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Shape 33"/>
          <p:cNvSpPr/>
          <p:nvPr/>
        </p:nvSpPr>
        <p:spPr>
          <a:xfrm>
            <a:off x="1965960" y="5102280"/>
            <a:ext cx="1508400" cy="25560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34"/>
          <p:cNvSpPr/>
          <p:nvPr/>
        </p:nvSpPr>
        <p:spPr>
          <a:xfrm>
            <a:off x="1965960" y="5093280"/>
            <a:ext cx="1508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97">
                <a:solidFill>
                  <a:srgbClr val="F2D774"/>
                </a:solidFill>
                <a:latin typeface="Arial"/>
                <a:ea typeface="Arial"/>
              </a:rPr>
              <a:t>VISIBLE ONLY TO YOU</a:t>
            </a:r>
            <a:endParaRPr lang="en-US" sz="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35"/>
          <p:cNvSpPr/>
          <p:nvPr/>
        </p:nvSpPr>
        <p:spPr>
          <a:xfrm>
            <a:off x="5120640" y="5074920"/>
            <a:ext cx="959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5F4F0"/>
                </a:solidFill>
                <a:latin typeface="Courier New"/>
                <a:ea typeface="Courier New"/>
              </a:rPr>
              <a:t>1,120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36"/>
          <p:cNvSpPr/>
          <p:nvPr/>
        </p:nvSpPr>
        <p:spPr>
          <a:xfrm>
            <a:off x="804600" y="5550480"/>
            <a:ext cx="5294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strike="noStrike" spc="-1">
                <a:solidFill>
                  <a:srgbClr val="807D74"/>
                </a:solidFill>
                <a:latin typeface="Calibri"/>
                <a:ea typeface="Calibri"/>
              </a:rPr>
              <a:t>Rank and points stay private.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37"/>
          <p:cNvSpPr/>
          <p:nvPr/>
        </p:nvSpPr>
        <p:spPr>
          <a:xfrm>
            <a:off x="6629400" y="146304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6" name="Image 0" descr="/home/claude/icons/award_yellow.png"/>
          <p:cNvPicPr/>
          <p:nvPr/>
        </p:nvPicPr>
        <p:blipFill>
          <a:blip r:embed="rId3"/>
          <a:stretch/>
        </p:blipFill>
        <p:spPr>
          <a:xfrm>
            <a:off x="6748200" y="15818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327" name="Text 38"/>
          <p:cNvSpPr/>
          <p:nvPr/>
        </p:nvSpPr>
        <p:spPr>
          <a:xfrm>
            <a:off x="7223760" y="143568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Only the top three are named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39"/>
          <p:cNvSpPr/>
          <p:nvPr/>
        </p:nvSpPr>
        <p:spPr>
          <a:xfrm>
            <a:off x="7223760" y="1719000"/>
            <a:ext cx="43887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Everyone else shows as “Anonymous student”. Names are opt-in.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40"/>
          <p:cNvSpPr/>
          <p:nvPr/>
        </p:nvSpPr>
        <p:spPr>
          <a:xfrm>
            <a:off x="6629400" y="259704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0" name="Image 1" descr="/home/claude/icons/eyeoff_yellow.png"/>
          <p:cNvPicPr/>
          <p:nvPr/>
        </p:nvPicPr>
        <p:blipFill>
          <a:blip r:embed="rId4"/>
          <a:stretch/>
        </p:blipFill>
        <p:spPr>
          <a:xfrm>
            <a:off x="6748200" y="27158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331" name="Text 41"/>
          <p:cNvSpPr/>
          <p:nvPr/>
        </p:nvSpPr>
        <p:spPr>
          <a:xfrm>
            <a:off x="7223760" y="256932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Your rank is yours alone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42"/>
          <p:cNvSpPr/>
          <p:nvPr/>
        </p:nvSpPr>
        <p:spPr>
          <a:xfrm>
            <a:off x="7223760" y="2853000"/>
            <a:ext cx="43887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Position and points show only to you.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43"/>
          <p:cNvSpPr/>
          <p:nvPr/>
        </p:nvSpPr>
        <p:spPr>
          <a:xfrm>
            <a:off x="6629400" y="373068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4" name="Image 2" descr="/home/claude/icons/target_yellow.png"/>
          <p:cNvPicPr/>
          <p:nvPr/>
        </p:nvPicPr>
        <p:blipFill>
          <a:blip r:embed="rId5"/>
          <a:stretch/>
        </p:blipFill>
        <p:spPr>
          <a:xfrm>
            <a:off x="6748200" y="38494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335" name="Text 44"/>
          <p:cNvSpPr/>
          <p:nvPr/>
        </p:nvSpPr>
        <p:spPr>
          <a:xfrm>
            <a:off x="7223760" y="370332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Accuracy beats speed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45"/>
          <p:cNvSpPr/>
          <p:nvPr/>
        </p:nvSpPr>
        <p:spPr>
          <a:xfrm>
            <a:off x="7223760" y="3986640"/>
            <a:ext cx="43887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Points reward accuracy and improvement. Speed never outweighs being right.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46"/>
          <p:cNvSpPr/>
          <p:nvPr/>
        </p:nvSpPr>
        <p:spPr>
          <a:xfrm>
            <a:off x="6629400" y="486468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8" name="Image 3" descr="/home/claude/icons/shield_yellow.png"/>
          <p:cNvPicPr/>
          <p:nvPr/>
        </p:nvPicPr>
        <p:blipFill>
          <a:blip r:embed="rId6"/>
          <a:stretch/>
        </p:blipFill>
        <p:spPr>
          <a:xfrm>
            <a:off x="6748200" y="49834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339" name="Text 47"/>
          <p:cNvSpPr/>
          <p:nvPr/>
        </p:nvSpPr>
        <p:spPr>
          <a:xfrm>
            <a:off x="7223760" y="483732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Points are not marks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48"/>
          <p:cNvSpPr/>
          <p:nvPr/>
        </p:nvSpPr>
        <p:spPr>
          <a:xfrm>
            <a:off x="7223760" y="5120640"/>
            <a:ext cx="43887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Optional, and never official assessment.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49"/>
          <p:cNvSpPr/>
          <p:nvPr/>
        </p:nvSpPr>
        <p:spPr>
          <a:xfrm>
            <a:off x="548640" y="651060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199">
                <a:solidFill>
                  <a:srgbClr val="807D74"/>
                </a:solidFill>
                <a:latin typeface="Arial"/>
                <a:ea typeface="Arial"/>
              </a:rPr>
              <a:t>COGNIVUE  ·  GROUP 12  ·  FUTURE LEARNING CONCEPT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Shape 50"/>
          <p:cNvSpPr/>
          <p:nvPr/>
        </p:nvSpPr>
        <p:spPr>
          <a:xfrm>
            <a:off x="4989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51"/>
          <p:cNvSpPr/>
          <p:nvPr/>
        </p:nvSpPr>
        <p:spPr>
          <a:xfrm>
            <a:off x="52048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Shape 52"/>
          <p:cNvSpPr/>
          <p:nvPr/>
        </p:nvSpPr>
        <p:spPr>
          <a:xfrm>
            <a:off x="5419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Shape 53"/>
          <p:cNvSpPr/>
          <p:nvPr/>
        </p:nvSpPr>
        <p:spPr>
          <a:xfrm>
            <a:off x="56343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54"/>
          <p:cNvSpPr/>
          <p:nvPr/>
        </p:nvSpPr>
        <p:spPr>
          <a:xfrm>
            <a:off x="58492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Shape 55"/>
          <p:cNvSpPr/>
          <p:nvPr/>
        </p:nvSpPr>
        <p:spPr>
          <a:xfrm>
            <a:off x="60642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Shape 56"/>
          <p:cNvSpPr/>
          <p:nvPr/>
        </p:nvSpPr>
        <p:spPr>
          <a:xfrm>
            <a:off x="6258600" y="6567840"/>
            <a:ext cx="104760" cy="104760"/>
          </a:xfrm>
          <a:prstGeom prst="diamond">
            <a:avLst/>
          </a:prstGeom>
          <a:solidFill>
            <a:srgbClr val="F2D77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560" rIns="90000" bIns="75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57"/>
          <p:cNvSpPr/>
          <p:nvPr/>
        </p:nvSpPr>
        <p:spPr>
          <a:xfrm>
            <a:off x="649404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58"/>
          <p:cNvSpPr/>
          <p:nvPr/>
        </p:nvSpPr>
        <p:spPr>
          <a:xfrm>
            <a:off x="6708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Shape 59"/>
          <p:cNvSpPr/>
          <p:nvPr/>
        </p:nvSpPr>
        <p:spPr>
          <a:xfrm>
            <a:off x="69238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60"/>
          <p:cNvSpPr/>
          <p:nvPr/>
        </p:nvSpPr>
        <p:spPr>
          <a:xfrm>
            <a:off x="7138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 0"/>
          <p:cNvSpPr/>
          <p:nvPr/>
        </p:nvSpPr>
        <p:spPr>
          <a:xfrm>
            <a:off x="548640" y="311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299">
                <a:solidFill>
                  <a:srgbClr val="F2D774"/>
                </a:solidFill>
                <a:latin typeface="Arial"/>
                <a:ea typeface="Arial"/>
              </a:rPr>
              <a:t>FEEDBACK TO LECTURER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1"/>
          <p:cNvSpPr/>
          <p:nvPr/>
        </p:nvSpPr>
        <p:spPr>
          <a:xfrm>
            <a:off x="548640" y="54864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5F4F0"/>
                </a:solidFill>
                <a:latin typeface="Arial"/>
                <a:ea typeface="Arial"/>
              </a:rPr>
              <a:t>See what the cohort struggled with, before the exam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2"/>
          <p:cNvSpPr/>
          <p:nvPr/>
        </p:nvSpPr>
        <p:spPr>
          <a:xfrm>
            <a:off x="548640" y="1371600"/>
            <a:ext cx="3620520" cy="959760"/>
          </a:xfrm>
          <a:prstGeom prst="roundRect">
            <a:avLst>
              <a:gd name="adj" fmla="val 6667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3"/>
          <p:cNvSpPr/>
          <p:nvPr/>
        </p:nvSpPr>
        <p:spPr>
          <a:xfrm>
            <a:off x="768240" y="1481400"/>
            <a:ext cx="1142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2D774"/>
                </a:solidFill>
                <a:latin typeface="Arial"/>
                <a:ea typeface="Arial"/>
              </a:rPr>
              <a:t>87%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4"/>
          <p:cNvSpPr/>
          <p:nvPr/>
        </p:nvSpPr>
        <p:spPr>
          <a:xfrm>
            <a:off x="1920240" y="1481400"/>
            <a:ext cx="20480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A9A69C"/>
                </a:solidFill>
                <a:latin typeface="Calibri"/>
                <a:ea typeface="Calibri"/>
              </a:rPr>
              <a:t>of 148 students used checkpoints, entirely optional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Shape 5"/>
          <p:cNvSpPr/>
          <p:nvPr/>
        </p:nvSpPr>
        <p:spPr>
          <a:xfrm>
            <a:off x="4370760" y="1371600"/>
            <a:ext cx="3620520" cy="959760"/>
          </a:xfrm>
          <a:prstGeom prst="roundRect">
            <a:avLst>
              <a:gd name="adj" fmla="val 6667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6"/>
          <p:cNvSpPr/>
          <p:nvPr/>
        </p:nvSpPr>
        <p:spPr>
          <a:xfrm>
            <a:off x="4590360" y="1481400"/>
            <a:ext cx="1142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2D774"/>
                </a:solidFill>
                <a:latin typeface="Arial"/>
                <a:ea typeface="Arial"/>
              </a:rPr>
              <a:t>66%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7"/>
          <p:cNvSpPr/>
          <p:nvPr/>
        </p:nvSpPr>
        <p:spPr>
          <a:xfrm>
            <a:off x="5742360" y="1481400"/>
            <a:ext cx="20480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A9A69C"/>
                </a:solidFill>
                <a:latin typeface="Calibri"/>
                <a:ea typeface="Calibri"/>
              </a:rPr>
              <a:t>average first-try accuracy, Week 1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Shape 8"/>
          <p:cNvSpPr/>
          <p:nvPr/>
        </p:nvSpPr>
        <p:spPr>
          <a:xfrm>
            <a:off x="8192880" y="1371600"/>
            <a:ext cx="3620520" cy="959760"/>
          </a:xfrm>
          <a:prstGeom prst="roundRect">
            <a:avLst>
              <a:gd name="adj" fmla="val 6667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9"/>
          <p:cNvSpPr/>
          <p:nvPr/>
        </p:nvSpPr>
        <p:spPr>
          <a:xfrm>
            <a:off x="8412480" y="1481400"/>
            <a:ext cx="1142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2D774"/>
                </a:solidFill>
                <a:latin typeface="Arial"/>
                <a:ea typeface="Arial"/>
              </a:rPr>
              <a:t>2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10"/>
          <p:cNvSpPr/>
          <p:nvPr/>
        </p:nvSpPr>
        <p:spPr>
          <a:xfrm>
            <a:off x="9564480" y="1481400"/>
            <a:ext cx="20480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A9A69C"/>
                </a:solidFill>
                <a:latin typeface="Calibri"/>
                <a:ea typeface="Calibri"/>
              </a:rPr>
              <a:t>misconceptions diagnosed from Week 1 wrong answers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Shape 11"/>
          <p:cNvSpPr/>
          <p:nvPr/>
        </p:nvSpPr>
        <p:spPr>
          <a:xfrm>
            <a:off x="548640" y="2560320"/>
            <a:ext cx="5806080" cy="3309840"/>
          </a:xfrm>
          <a:prstGeom prst="roundRect">
            <a:avLst>
              <a:gd name="adj" fmla="val 1934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12"/>
          <p:cNvSpPr/>
          <p:nvPr/>
        </p:nvSpPr>
        <p:spPr>
          <a:xfrm>
            <a:off x="804600" y="2724840"/>
            <a:ext cx="5294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5F4F0"/>
                </a:solidFill>
                <a:latin typeface="Arial"/>
                <a:ea typeface="Arial"/>
              </a:rPr>
              <a:t>Missed on first attempt · Week 1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13"/>
          <p:cNvSpPr/>
          <p:nvPr/>
        </p:nvSpPr>
        <p:spPr>
          <a:xfrm>
            <a:off x="804600" y="314568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F5F4F0"/>
                </a:solidFill>
                <a:latin typeface="Calibri"/>
                <a:ea typeface="Calibri"/>
              </a:rPr>
              <a:t>Independence of motion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Shape 14"/>
          <p:cNvSpPr/>
          <p:nvPr/>
        </p:nvSpPr>
        <p:spPr>
          <a:xfrm>
            <a:off x="2971800" y="3200400"/>
            <a:ext cx="2468520" cy="145800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15"/>
          <p:cNvSpPr/>
          <p:nvPr/>
        </p:nvSpPr>
        <p:spPr>
          <a:xfrm>
            <a:off x="2971800" y="3200400"/>
            <a:ext cx="937800" cy="145800"/>
          </a:xfrm>
          <a:prstGeom prst="roundRect">
            <a:avLst>
              <a:gd name="adj" fmla="val 50000"/>
            </a:avLst>
          </a:prstGeom>
          <a:solidFill>
            <a:srgbClr val="6C86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16"/>
          <p:cNvSpPr/>
          <p:nvPr/>
        </p:nvSpPr>
        <p:spPr>
          <a:xfrm>
            <a:off x="5513760" y="3145680"/>
            <a:ext cx="548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A9A69C"/>
                </a:solidFill>
                <a:latin typeface="Courier New"/>
                <a:ea typeface="Courier New"/>
              </a:rPr>
              <a:t>38%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17"/>
          <p:cNvSpPr/>
          <p:nvPr/>
        </p:nvSpPr>
        <p:spPr>
          <a:xfrm>
            <a:off x="804600" y="360288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F5F4F0"/>
                </a:solidFill>
                <a:latin typeface="Calibri"/>
                <a:ea typeface="Calibri"/>
              </a:rPr>
              <a:t>Horizontal motion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Shape 18"/>
          <p:cNvSpPr/>
          <p:nvPr/>
        </p:nvSpPr>
        <p:spPr>
          <a:xfrm>
            <a:off x="2971800" y="3657600"/>
            <a:ext cx="2468520" cy="145800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Shape 19"/>
          <p:cNvSpPr/>
          <p:nvPr/>
        </p:nvSpPr>
        <p:spPr>
          <a:xfrm>
            <a:off x="2971800" y="3657600"/>
            <a:ext cx="542880" cy="145800"/>
          </a:xfrm>
          <a:prstGeom prst="roundRect">
            <a:avLst>
              <a:gd name="adj" fmla="val 50000"/>
            </a:avLst>
          </a:prstGeom>
          <a:solidFill>
            <a:srgbClr val="6C86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20"/>
          <p:cNvSpPr/>
          <p:nvPr/>
        </p:nvSpPr>
        <p:spPr>
          <a:xfrm>
            <a:off x="5513760" y="3602880"/>
            <a:ext cx="548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A9A69C"/>
                </a:solidFill>
                <a:latin typeface="Courier New"/>
                <a:ea typeface="Courier New"/>
              </a:rPr>
              <a:t>22%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21"/>
          <p:cNvSpPr/>
          <p:nvPr/>
        </p:nvSpPr>
        <p:spPr>
          <a:xfrm>
            <a:off x="804600" y="406008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F5F4F0"/>
                </a:solidFill>
                <a:latin typeface="Calibri"/>
                <a:ea typeface="Calibri"/>
              </a:rPr>
              <a:t>Vertical motion &amp; the peak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Shape 22"/>
          <p:cNvSpPr/>
          <p:nvPr/>
        </p:nvSpPr>
        <p:spPr>
          <a:xfrm>
            <a:off x="2971800" y="4114800"/>
            <a:ext cx="2468520" cy="145800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Shape 23"/>
          <p:cNvSpPr/>
          <p:nvPr/>
        </p:nvSpPr>
        <p:spPr>
          <a:xfrm>
            <a:off x="2971800" y="4114800"/>
            <a:ext cx="1110600" cy="145800"/>
          </a:xfrm>
          <a:prstGeom prst="roundRect">
            <a:avLst>
              <a:gd name="adj" fmla="val 50000"/>
            </a:avLst>
          </a:prstGeom>
          <a:solidFill>
            <a:srgbClr val="E86A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24"/>
          <p:cNvSpPr/>
          <p:nvPr/>
        </p:nvSpPr>
        <p:spPr>
          <a:xfrm>
            <a:off x="5513760" y="4060080"/>
            <a:ext cx="548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A9A69C"/>
                </a:solidFill>
                <a:latin typeface="Courier New"/>
                <a:ea typeface="Courier New"/>
              </a:rPr>
              <a:t>45%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25"/>
          <p:cNvSpPr/>
          <p:nvPr/>
        </p:nvSpPr>
        <p:spPr>
          <a:xfrm>
            <a:off x="804600" y="451728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F5F4F0"/>
                </a:solidFill>
                <a:latin typeface="Calibri"/>
                <a:ea typeface="Calibri"/>
              </a:rPr>
              <a:t>Time of flight &amp; range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Shape 26"/>
          <p:cNvSpPr/>
          <p:nvPr/>
        </p:nvSpPr>
        <p:spPr>
          <a:xfrm>
            <a:off x="2971800" y="4572000"/>
            <a:ext cx="2468520" cy="145800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Shape 27"/>
          <p:cNvSpPr/>
          <p:nvPr/>
        </p:nvSpPr>
        <p:spPr>
          <a:xfrm>
            <a:off x="2971800" y="4572000"/>
            <a:ext cx="715680" cy="145800"/>
          </a:xfrm>
          <a:prstGeom prst="roundRect">
            <a:avLst>
              <a:gd name="adj" fmla="val 50000"/>
            </a:avLst>
          </a:prstGeom>
          <a:solidFill>
            <a:srgbClr val="6C86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28"/>
          <p:cNvSpPr/>
          <p:nvPr/>
        </p:nvSpPr>
        <p:spPr>
          <a:xfrm>
            <a:off x="5513760" y="4517280"/>
            <a:ext cx="548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A9A69C"/>
                </a:solidFill>
                <a:latin typeface="Courier New"/>
                <a:ea typeface="Courier New"/>
              </a:rPr>
              <a:t>29%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29"/>
          <p:cNvSpPr/>
          <p:nvPr/>
        </p:nvSpPr>
        <p:spPr>
          <a:xfrm>
            <a:off x="804600" y="497448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F5F4F0"/>
                </a:solidFill>
                <a:latin typeface="Calibri"/>
                <a:ea typeface="Calibri"/>
              </a:rPr>
              <a:t>Real-world application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Shape 30"/>
          <p:cNvSpPr/>
          <p:nvPr/>
        </p:nvSpPr>
        <p:spPr>
          <a:xfrm>
            <a:off x="2971800" y="5029200"/>
            <a:ext cx="2468520" cy="145800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Shape 31"/>
          <p:cNvSpPr/>
          <p:nvPr/>
        </p:nvSpPr>
        <p:spPr>
          <a:xfrm>
            <a:off x="2971800" y="5029200"/>
            <a:ext cx="839160" cy="145800"/>
          </a:xfrm>
          <a:prstGeom prst="roundRect">
            <a:avLst>
              <a:gd name="adj" fmla="val 50000"/>
            </a:avLst>
          </a:prstGeom>
          <a:solidFill>
            <a:srgbClr val="6C86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32"/>
          <p:cNvSpPr/>
          <p:nvPr/>
        </p:nvSpPr>
        <p:spPr>
          <a:xfrm>
            <a:off x="5513760" y="4974480"/>
            <a:ext cx="548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A9A69C"/>
                </a:solidFill>
                <a:latin typeface="Courier New"/>
                <a:ea typeface="Courier New"/>
              </a:rPr>
              <a:t>34%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33"/>
          <p:cNvSpPr/>
          <p:nvPr/>
        </p:nvSpPr>
        <p:spPr>
          <a:xfrm>
            <a:off x="804600" y="5541120"/>
            <a:ext cx="5294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strike="noStrike" spc="-1">
                <a:solidFill>
                  <a:srgbClr val="807D74"/>
                </a:solidFill>
                <a:latin typeface="Calibri"/>
                <a:ea typeface="Calibri"/>
              </a:rPr>
              <a:t>Share answering incorrectly · anonymised · higher = revisit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Shape 34"/>
          <p:cNvSpPr/>
          <p:nvPr/>
        </p:nvSpPr>
        <p:spPr>
          <a:xfrm>
            <a:off x="6537960" y="2560320"/>
            <a:ext cx="5074560" cy="1919880"/>
          </a:xfrm>
          <a:prstGeom prst="roundRect">
            <a:avLst>
              <a:gd name="adj" fmla="val 3333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35"/>
          <p:cNvSpPr/>
          <p:nvPr/>
        </p:nvSpPr>
        <p:spPr>
          <a:xfrm>
            <a:off x="6757560" y="2706480"/>
            <a:ext cx="4635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5F4F0"/>
                </a:solidFill>
                <a:latin typeface="Arial"/>
                <a:ea typeface="Arial"/>
              </a:rPr>
              <a:t>Most common wrong answers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Shape 36"/>
          <p:cNvSpPr/>
          <p:nvPr/>
        </p:nvSpPr>
        <p:spPr>
          <a:xfrm>
            <a:off x="6757560" y="3054240"/>
            <a:ext cx="566640" cy="273960"/>
          </a:xfrm>
          <a:prstGeom prst="roundRect">
            <a:avLst>
              <a:gd name="adj" fmla="val 16667"/>
            </a:avLst>
          </a:prstGeom>
          <a:solidFill>
            <a:srgbClr val="1D1D24"/>
          </a:solidFill>
          <a:ln w="12700">
            <a:solidFill>
              <a:srgbClr val="E86A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 37"/>
          <p:cNvSpPr/>
          <p:nvPr/>
        </p:nvSpPr>
        <p:spPr>
          <a:xfrm>
            <a:off x="6757560" y="3044880"/>
            <a:ext cx="566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86A93"/>
                </a:solidFill>
                <a:latin typeface="Courier New"/>
                <a:ea typeface="Courier New"/>
              </a:rPr>
              <a:t>29%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38"/>
          <p:cNvSpPr/>
          <p:nvPr/>
        </p:nvSpPr>
        <p:spPr>
          <a:xfrm>
            <a:off x="7452360" y="303588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5F4F0"/>
                </a:solidFill>
                <a:latin typeface="Arial"/>
                <a:ea typeface="Arial"/>
              </a:rPr>
              <a:t>Time of flight &amp; range · 4:20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39"/>
          <p:cNvSpPr/>
          <p:nvPr/>
        </p:nvSpPr>
        <p:spPr>
          <a:xfrm>
            <a:off x="7452360" y="3291840"/>
            <a:ext cx="39315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A9A69C"/>
                </a:solidFill>
                <a:latin typeface="Calibri"/>
                <a:ea typeface="Calibri"/>
              </a:rPr>
              <a:t>Used g = 9.8 after being told g = 10, or a sign error.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Shape 40"/>
          <p:cNvSpPr/>
          <p:nvPr/>
        </p:nvSpPr>
        <p:spPr>
          <a:xfrm>
            <a:off x="6757560" y="3785760"/>
            <a:ext cx="566640" cy="273960"/>
          </a:xfrm>
          <a:prstGeom prst="roundRect">
            <a:avLst>
              <a:gd name="adj" fmla="val 16667"/>
            </a:avLst>
          </a:prstGeom>
          <a:solidFill>
            <a:srgbClr val="1D1D24"/>
          </a:solidFill>
          <a:ln w="12700">
            <a:solidFill>
              <a:srgbClr val="E86A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41"/>
          <p:cNvSpPr/>
          <p:nvPr/>
        </p:nvSpPr>
        <p:spPr>
          <a:xfrm>
            <a:off x="6757560" y="3776400"/>
            <a:ext cx="566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86A93"/>
                </a:solidFill>
                <a:latin typeface="Courier New"/>
                <a:ea typeface="Courier New"/>
              </a:rPr>
              <a:t>22%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42"/>
          <p:cNvSpPr/>
          <p:nvPr/>
        </p:nvSpPr>
        <p:spPr>
          <a:xfrm>
            <a:off x="7452360" y="376740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5F4F0"/>
                </a:solidFill>
                <a:latin typeface="Arial"/>
                <a:ea typeface="Arial"/>
              </a:rPr>
              <a:t>Horizontal motion · 1:25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43"/>
          <p:cNvSpPr/>
          <p:nvPr/>
        </p:nvSpPr>
        <p:spPr>
          <a:xfrm>
            <a:off x="7452360" y="4023360"/>
            <a:ext cx="39315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A9A69C"/>
                </a:solidFill>
                <a:latin typeface="Calibri"/>
                <a:ea typeface="Calibri"/>
              </a:rPr>
              <a:t>“Gravity plus the throw force”: the impetus misconception.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Shape 44"/>
          <p:cNvSpPr/>
          <p:nvPr/>
        </p:nvSpPr>
        <p:spPr>
          <a:xfrm>
            <a:off x="6537960" y="4617720"/>
            <a:ext cx="5074560" cy="1252440"/>
          </a:xfrm>
          <a:prstGeom prst="roundRect">
            <a:avLst>
              <a:gd name="adj" fmla="val 5109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Shape 45"/>
          <p:cNvSpPr/>
          <p:nvPr/>
        </p:nvSpPr>
        <p:spPr>
          <a:xfrm>
            <a:off x="6757560" y="4827960"/>
            <a:ext cx="438480" cy="43848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9" name="Image 0" descr="/home/claude/icons/mail_yellow.png"/>
          <p:cNvPicPr/>
          <p:nvPr/>
        </p:nvPicPr>
        <p:blipFill>
          <a:blip r:embed="rId3"/>
          <a:stretch/>
        </p:blipFill>
        <p:spPr>
          <a:xfrm>
            <a:off x="6871680" y="4942080"/>
            <a:ext cx="210240" cy="210240"/>
          </a:xfrm>
          <a:prstGeom prst="rect">
            <a:avLst/>
          </a:prstGeom>
          <a:ln w="0">
            <a:noFill/>
          </a:ln>
        </p:spPr>
      </p:pic>
      <p:sp>
        <p:nvSpPr>
          <p:cNvPr id="400" name="Text 46"/>
          <p:cNvSpPr/>
          <p:nvPr/>
        </p:nvSpPr>
        <p:spPr>
          <a:xfrm>
            <a:off x="7333560" y="4809600"/>
            <a:ext cx="4068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5F4F0"/>
                </a:solidFill>
                <a:latin typeface="Arial"/>
                <a:ea typeface="Arial"/>
              </a:rPr>
              <a:t>A weekly digest, written for the lecturer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47"/>
          <p:cNvSpPr/>
          <p:nvPr/>
        </p:nvSpPr>
        <p:spPr>
          <a:xfrm>
            <a:off x="6757560" y="5322814"/>
            <a:ext cx="4635720" cy="4742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A9A69C"/>
                </a:solidFill>
                <a:latin typeface="Calibri"/>
                <a:ea typeface="Calibri"/>
              </a:rPr>
              <a:t>One email: what was missed, why, and what to revisit in lectures, tutorials or revision materials. Aggregated and </a:t>
            </a:r>
            <a:r>
              <a:rPr lang="en-US" sz="1000" b="0" strike="noStrike" spc="-1" dirty="0" err="1">
                <a:solidFill>
                  <a:srgbClr val="A9A69C"/>
                </a:solidFill>
                <a:latin typeface="Calibri"/>
                <a:ea typeface="Calibri"/>
              </a:rPr>
              <a:t>anonymised</a:t>
            </a:r>
            <a:r>
              <a:rPr lang="en-US" sz="1000" b="0" strike="noStrike" spc="-1" dirty="0">
                <a:solidFill>
                  <a:srgbClr val="A9A69C"/>
                </a:solidFill>
                <a:latin typeface="Calibri"/>
                <a:ea typeface="Calibri"/>
              </a:rPr>
              <a:t>.</a:t>
            </a:r>
            <a:endParaRPr lang="en-US" sz="1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48"/>
          <p:cNvSpPr/>
          <p:nvPr/>
        </p:nvSpPr>
        <p:spPr>
          <a:xfrm>
            <a:off x="548640" y="651060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199">
                <a:solidFill>
                  <a:srgbClr val="807D74"/>
                </a:solidFill>
                <a:latin typeface="Arial"/>
                <a:ea typeface="Arial"/>
              </a:rPr>
              <a:t>COGNIVUE  ·  GROUP 12  ·  FUTURE LEARNING CONCEPT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Shape 49"/>
          <p:cNvSpPr/>
          <p:nvPr/>
        </p:nvSpPr>
        <p:spPr>
          <a:xfrm>
            <a:off x="4989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50"/>
          <p:cNvSpPr/>
          <p:nvPr/>
        </p:nvSpPr>
        <p:spPr>
          <a:xfrm>
            <a:off x="52048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Shape 51"/>
          <p:cNvSpPr/>
          <p:nvPr/>
        </p:nvSpPr>
        <p:spPr>
          <a:xfrm>
            <a:off x="5419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Shape 52"/>
          <p:cNvSpPr/>
          <p:nvPr/>
        </p:nvSpPr>
        <p:spPr>
          <a:xfrm>
            <a:off x="56343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53"/>
          <p:cNvSpPr/>
          <p:nvPr/>
        </p:nvSpPr>
        <p:spPr>
          <a:xfrm>
            <a:off x="58492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Shape 54"/>
          <p:cNvSpPr/>
          <p:nvPr/>
        </p:nvSpPr>
        <p:spPr>
          <a:xfrm>
            <a:off x="60642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55"/>
          <p:cNvSpPr/>
          <p:nvPr/>
        </p:nvSpPr>
        <p:spPr>
          <a:xfrm>
            <a:off x="627912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Shape 56"/>
          <p:cNvSpPr/>
          <p:nvPr/>
        </p:nvSpPr>
        <p:spPr>
          <a:xfrm>
            <a:off x="6473520" y="6567840"/>
            <a:ext cx="104760" cy="104760"/>
          </a:xfrm>
          <a:prstGeom prst="diamond">
            <a:avLst/>
          </a:prstGeom>
          <a:solidFill>
            <a:srgbClr val="F2D77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560" rIns="90000" bIns="75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57"/>
          <p:cNvSpPr/>
          <p:nvPr/>
        </p:nvSpPr>
        <p:spPr>
          <a:xfrm>
            <a:off x="6708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Shape 58"/>
          <p:cNvSpPr/>
          <p:nvPr/>
        </p:nvSpPr>
        <p:spPr>
          <a:xfrm>
            <a:off x="69238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hape 59"/>
          <p:cNvSpPr/>
          <p:nvPr/>
        </p:nvSpPr>
        <p:spPr>
          <a:xfrm>
            <a:off x="7138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ext 0"/>
          <p:cNvSpPr/>
          <p:nvPr/>
        </p:nvSpPr>
        <p:spPr>
          <a:xfrm>
            <a:off x="548640" y="311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299">
                <a:solidFill>
                  <a:srgbClr val="F2D774"/>
                </a:solidFill>
                <a:latin typeface="Arial"/>
                <a:ea typeface="Arial"/>
              </a:rPr>
              <a:t>PROGRESS TRACKING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1"/>
          <p:cNvSpPr/>
          <p:nvPr/>
        </p:nvSpPr>
        <p:spPr>
          <a:xfrm>
            <a:off x="548640" y="54864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5F4F0"/>
                </a:solidFill>
                <a:latin typeface="Arial"/>
                <a:ea typeface="Arial"/>
              </a:rPr>
              <a:t>Revision arrives when it matters: Week 5 and Week 12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Shape 2"/>
          <p:cNvSpPr/>
          <p:nvPr/>
        </p:nvSpPr>
        <p:spPr>
          <a:xfrm>
            <a:off x="548640" y="1417320"/>
            <a:ext cx="6171840" cy="4480200"/>
          </a:xfrm>
          <a:prstGeom prst="roundRect">
            <a:avLst>
              <a:gd name="adj" fmla="val 1429"/>
            </a:avLst>
          </a:prstGeom>
          <a:solidFill>
            <a:srgbClr val="EAE5D9"/>
          </a:solidFill>
          <a:ln w="12700">
            <a:solidFill>
              <a:srgbClr val="D6D0BF"/>
            </a:solidFill>
            <a:round/>
          </a:ln>
          <a:effectLst>
            <a:outerShdw blurRad="10152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3"/>
          <p:cNvSpPr/>
          <p:nvPr/>
        </p:nvSpPr>
        <p:spPr>
          <a:xfrm>
            <a:off x="804600" y="1600200"/>
            <a:ext cx="685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5C5750"/>
                </a:solidFill>
                <a:latin typeface="Calibri"/>
                <a:ea typeface="Calibri"/>
              </a:rPr>
              <a:t>From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4"/>
          <p:cNvSpPr/>
          <p:nvPr/>
        </p:nvSpPr>
        <p:spPr>
          <a:xfrm>
            <a:off x="1508760" y="1600200"/>
            <a:ext cx="49374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7171A"/>
                </a:solidFill>
                <a:latin typeface="Calibri"/>
                <a:ea typeface="Calibri"/>
              </a:rPr>
              <a:t>Cognivue  &lt;checkpoints@cognivue.app&gt;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5"/>
          <p:cNvSpPr/>
          <p:nvPr/>
        </p:nvSpPr>
        <p:spPr>
          <a:xfrm>
            <a:off x="804600" y="1847160"/>
            <a:ext cx="685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5C5750"/>
                </a:solidFill>
                <a:latin typeface="Calibri"/>
                <a:ea typeface="Calibri"/>
              </a:rPr>
              <a:t>To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6"/>
          <p:cNvSpPr/>
          <p:nvPr/>
        </p:nvSpPr>
        <p:spPr>
          <a:xfrm>
            <a:off x="1508760" y="1847160"/>
            <a:ext cx="49374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7171A"/>
                </a:solidFill>
                <a:latin typeface="Calibri"/>
                <a:ea typeface="Calibri"/>
              </a:rPr>
              <a:t>you  &lt;student@curtin.edu.au&gt;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 7"/>
          <p:cNvSpPr/>
          <p:nvPr/>
        </p:nvSpPr>
        <p:spPr>
          <a:xfrm>
            <a:off x="804600" y="2094120"/>
            <a:ext cx="685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5C5750"/>
                </a:solidFill>
                <a:latin typeface="Calibri"/>
                <a:ea typeface="Calibri"/>
              </a:rPr>
              <a:t>Subject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8"/>
          <p:cNvSpPr/>
          <p:nvPr/>
        </p:nvSpPr>
        <p:spPr>
          <a:xfrm>
            <a:off x="1508760" y="2094120"/>
            <a:ext cx="49374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17171A"/>
                </a:solidFill>
                <a:latin typeface="Calibri"/>
                <a:ea typeface="Calibri"/>
              </a:rPr>
              <a:t>Week 5 progress: PHYS1001, ready for your mid-semester test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Shape 9"/>
          <p:cNvSpPr/>
          <p:nvPr/>
        </p:nvSpPr>
        <p:spPr>
          <a:xfrm>
            <a:off x="804600" y="2404800"/>
            <a:ext cx="5659920" cy="360"/>
          </a:xfrm>
          <a:prstGeom prst="line">
            <a:avLst/>
          </a:prstGeom>
          <a:ln w="12700">
            <a:solidFill>
              <a:srgbClr val="D6D0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10"/>
          <p:cNvSpPr/>
          <p:nvPr/>
        </p:nvSpPr>
        <p:spPr>
          <a:xfrm>
            <a:off x="804600" y="2514600"/>
            <a:ext cx="5659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17171A"/>
                </a:solidFill>
                <a:latin typeface="Arial"/>
                <a:ea typeface="Arial"/>
              </a:rPr>
              <a:t>Your checkpoint performance so far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11"/>
          <p:cNvSpPr/>
          <p:nvPr/>
        </p:nvSpPr>
        <p:spPr>
          <a:xfrm>
            <a:off x="932760" y="2788920"/>
            <a:ext cx="540360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7171A"/>
              </a:buClr>
              <a:buFont typeface="Symbol" charset="2"/>
              <a:buChar char=""/>
            </a:pPr>
            <a:r>
              <a:rPr lang="en-US" sz="1050" b="0" strike="noStrike" spc="-1">
                <a:solidFill>
                  <a:srgbClr val="17171A"/>
                </a:solidFill>
                <a:latin typeface="Calibri"/>
                <a:ea typeface="Calibri"/>
              </a:rPr>
              <a:t>Week 1 (Projectile Motion):  5 / 5 checkpoints · first-try 80%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7171A"/>
              </a:buClr>
              <a:buFont typeface="Symbol" charset="2"/>
              <a:buChar char=""/>
            </a:pPr>
            <a:r>
              <a:rPr lang="en-US" sz="1050" b="0" strike="noStrike" spc="-1">
                <a:solidFill>
                  <a:srgbClr val="17171A"/>
                </a:solidFill>
                <a:latin typeface="Calibri"/>
                <a:ea typeface="Calibri"/>
              </a:rPr>
              <a:t>Week 2 (Forces &amp; Newton's Laws):  4 / 5 checkpoints · first-try 75%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7171A"/>
              </a:buClr>
              <a:buFont typeface="Symbol" charset="2"/>
              <a:buChar char=""/>
            </a:pPr>
            <a:r>
              <a:rPr lang="en-US" sz="1050" b="0" strike="noStrike" spc="-1">
                <a:solidFill>
                  <a:srgbClr val="17171A"/>
                </a:solidFill>
                <a:latin typeface="Calibri"/>
                <a:ea typeface="Calibri"/>
              </a:rPr>
              <a:t>Total points: 1,120 · best streak: 6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12"/>
          <p:cNvSpPr/>
          <p:nvPr/>
        </p:nvSpPr>
        <p:spPr>
          <a:xfrm>
            <a:off x="804600" y="3749040"/>
            <a:ext cx="5659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17171A"/>
                </a:solidFill>
                <a:latin typeface="Arial"/>
                <a:ea typeface="Arial"/>
              </a:rPr>
              <a:t>Topics to revise before your mid-semester test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13"/>
          <p:cNvSpPr/>
          <p:nvPr/>
        </p:nvSpPr>
        <p:spPr>
          <a:xfrm>
            <a:off x="932760" y="4023360"/>
            <a:ext cx="5403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7171A"/>
              </a:buClr>
              <a:buFont typeface="Symbol" charset="2"/>
              <a:buChar char=""/>
            </a:pPr>
            <a:r>
              <a:rPr lang="en-US" sz="1050" b="0" strike="noStrike" spc="-1">
                <a:solidFill>
                  <a:srgbClr val="17171A"/>
                </a:solidFill>
                <a:latin typeface="Calibri"/>
                <a:ea typeface="Calibri"/>
              </a:rPr>
              <a:t>Vertical motion &amp; the peak: missed first try.  Jump to 2:50 →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7171A"/>
              </a:buClr>
              <a:buFont typeface="Symbol" charset="2"/>
              <a:buChar char=""/>
            </a:pPr>
            <a:r>
              <a:rPr lang="en-US" sz="1050" b="0" strike="noStrike" spc="-1">
                <a:solidFill>
                  <a:srgbClr val="17171A"/>
                </a:solidFill>
                <a:latin typeface="Calibri"/>
                <a:ea typeface="Calibri"/>
              </a:rPr>
              <a:t>Newton's third law: skipped.  Retry the checkpoint at 4:05 →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14"/>
          <p:cNvSpPr/>
          <p:nvPr/>
        </p:nvSpPr>
        <p:spPr>
          <a:xfrm>
            <a:off x="804600" y="4727520"/>
            <a:ext cx="5659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17171A"/>
                </a:solidFill>
                <a:latin typeface="Arial"/>
                <a:ea typeface="Arial"/>
              </a:rPr>
              <a:t>Suggested plan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 15"/>
          <p:cNvSpPr/>
          <p:nvPr/>
        </p:nvSpPr>
        <p:spPr>
          <a:xfrm>
            <a:off x="932760" y="5001840"/>
            <a:ext cx="540360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7171A"/>
              </a:buClr>
              <a:buFont typeface="Symbol" charset="2"/>
              <a:buChar char=""/>
            </a:pPr>
            <a:r>
              <a:rPr lang="en-US" sz="1050" b="0" strike="noStrike" spc="-1">
                <a:solidFill>
                  <a:srgbClr val="17171A"/>
                </a:solidFill>
                <a:latin typeface="Calibri"/>
                <a:ea typeface="Calibri"/>
              </a:rPr>
              <a:t>Rewatch the two explanations above (one click each)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7171A"/>
              </a:buClr>
              <a:buFont typeface="Symbol" charset="2"/>
              <a:buChar char=""/>
            </a:pPr>
            <a:r>
              <a:rPr lang="en-US" sz="1050" b="0" strike="noStrike" spc="-1">
                <a:solidFill>
                  <a:srgbClr val="17171A"/>
                </a:solidFill>
                <a:latin typeface="Calibri"/>
                <a:ea typeface="Calibri"/>
              </a:rPr>
              <a:t>Retry wrong or skipped checkpoints (half points, streak rebuilds)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7171A"/>
              </a:buClr>
              <a:buFont typeface="Symbol" charset="2"/>
              <a:buChar char=""/>
            </a:pPr>
            <a:r>
              <a:rPr lang="en-US" sz="1050" b="0" strike="noStrike" spc="-1">
                <a:solidFill>
                  <a:srgbClr val="17171A"/>
                </a:solidFill>
                <a:latin typeface="Calibri"/>
                <a:ea typeface="Calibri"/>
              </a:rPr>
              <a:t>Try the challenge questions for exam-style practice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Shape 16"/>
          <p:cNvSpPr/>
          <p:nvPr/>
        </p:nvSpPr>
        <p:spPr>
          <a:xfrm>
            <a:off x="6949440" y="155448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1" name="Image 0" descr="/home/claude/icons/calendar_yellow.png"/>
          <p:cNvPicPr/>
          <p:nvPr/>
        </p:nvPicPr>
        <p:blipFill>
          <a:blip r:embed="rId3"/>
          <a:stretch/>
        </p:blipFill>
        <p:spPr>
          <a:xfrm>
            <a:off x="7068240" y="16732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432" name="Text 17"/>
          <p:cNvSpPr/>
          <p:nvPr/>
        </p:nvSpPr>
        <p:spPr>
          <a:xfrm>
            <a:off x="7543800" y="15271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Week 5 · mid-semester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18"/>
          <p:cNvSpPr/>
          <p:nvPr/>
        </p:nvSpPr>
        <p:spPr>
          <a:xfrm>
            <a:off x="7543800" y="1810440"/>
            <a:ext cx="40687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Strengths, gaps and a plan, before the mid-semester test.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19"/>
          <p:cNvSpPr/>
          <p:nvPr/>
        </p:nvSpPr>
        <p:spPr>
          <a:xfrm>
            <a:off x="6949440" y="292608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5" name="Image 1" descr="/home/claude/icons/bell_yellow.png"/>
          <p:cNvPicPr/>
          <p:nvPr/>
        </p:nvPicPr>
        <p:blipFill>
          <a:blip r:embed="rId4"/>
          <a:stretch/>
        </p:blipFill>
        <p:spPr>
          <a:xfrm>
            <a:off x="7068240" y="30448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436" name="Text 20"/>
          <p:cNvSpPr/>
          <p:nvPr/>
        </p:nvSpPr>
        <p:spPr>
          <a:xfrm>
            <a:off x="7543800" y="28987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Week 12 · pre-exam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21"/>
          <p:cNvSpPr/>
          <p:nvPr/>
        </p:nvSpPr>
        <p:spPr>
          <a:xfrm>
            <a:off x="7543800" y="3182040"/>
            <a:ext cx="40687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Every weak concept ranked, with direct timestamp links.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22"/>
          <p:cNvSpPr/>
          <p:nvPr/>
        </p:nvSpPr>
        <p:spPr>
          <a:xfrm>
            <a:off x="6949440" y="4297680"/>
            <a:ext cx="456840" cy="45684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9" name="Image 2" descr="/home/claude/icons/clock_yellow.png"/>
          <p:cNvPicPr/>
          <p:nvPr/>
        </p:nvPicPr>
        <p:blipFill>
          <a:blip r:embed="rId5"/>
          <a:stretch/>
        </p:blipFill>
        <p:spPr>
          <a:xfrm>
            <a:off x="7068240" y="44164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440" name="Text 23"/>
          <p:cNvSpPr/>
          <p:nvPr/>
        </p:nvSpPr>
        <p:spPr>
          <a:xfrm>
            <a:off x="7543800" y="42703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No rewatching marathons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24"/>
          <p:cNvSpPr/>
          <p:nvPr/>
        </p:nvSpPr>
        <p:spPr>
          <a:xfrm>
            <a:off x="7543800" y="4553640"/>
            <a:ext cx="40687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A9A69C"/>
                </a:solidFill>
                <a:latin typeface="Calibri"/>
                <a:ea typeface="Calibri"/>
              </a:rPr>
              <a:t>Every line links to a moment. Minutes of recall, not hours of video.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25"/>
          <p:cNvSpPr/>
          <p:nvPr/>
        </p:nvSpPr>
        <p:spPr>
          <a:xfrm>
            <a:off x="6949440" y="5669280"/>
            <a:ext cx="46630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strike="noStrike" spc="-1">
                <a:solidFill>
                  <a:srgbClr val="807D74"/>
                </a:solidFill>
                <a:latin typeface="Calibri"/>
                <a:ea typeface="Calibri"/>
              </a:rPr>
              <a:t>Built from quiz results, concept mastery, revision habits and engagement · illustrative email.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26"/>
          <p:cNvSpPr/>
          <p:nvPr/>
        </p:nvSpPr>
        <p:spPr>
          <a:xfrm>
            <a:off x="548640" y="651060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199">
                <a:solidFill>
                  <a:srgbClr val="807D74"/>
                </a:solidFill>
                <a:latin typeface="Arial"/>
                <a:ea typeface="Arial"/>
              </a:rPr>
              <a:t>COGNIVUE  ·  GROUP 12  ·  FUTURE LEARNING CONCEPT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Shape 27"/>
          <p:cNvSpPr/>
          <p:nvPr/>
        </p:nvSpPr>
        <p:spPr>
          <a:xfrm>
            <a:off x="4989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Shape 28"/>
          <p:cNvSpPr/>
          <p:nvPr/>
        </p:nvSpPr>
        <p:spPr>
          <a:xfrm>
            <a:off x="52048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Shape 29"/>
          <p:cNvSpPr/>
          <p:nvPr/>
        </p:nvSpPr>
        <p:spPr>
          <a:xfrm>
            <a:off x="5419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30"/>
          <p:cNvSpPr/>
          <p:nvPr/>
        </p:nvSpPr>
        <p:spPr>
          <a:xfrm>
            <a:off x="56343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Shape 31"/>
          <p:cNvSpPr/>
          <p:nvPr/>
        </p:nvSpPr>
        <p:spPr>
          <a:xfrm>
            <a:off x="58492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32"/>
          <p:cNvSpPr/>
          <p:nvPr/>
        </p:nvSpPr>
        <p:spPr>
          <a:xfrm>
            <a:off x="60642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33"/>
          <p:cNvSpPr/>
          <p:nvPr/>
        </p:nvSpPr>
        <p:spPr>
          <a:xfrm>
            <a:off x="627912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Shape 34"/>
          <p:cNvSpPr/>
          <p:nvPr/>
        </p:nvSpPr>
        <p:spPr>
          <a:xfrm>
            <a:off x="649404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Shape 35"/>
          <p:cNvSpPr/>
          <p:nvPr/>
        </p:nvSpPr>
        <p:spPr>
          <a:xfrm>
            <a:off x="6688440" y="6567840"/>
            <a:ext cx="104760" cy="104760"/>
          </a:xfrm>
          <a:prstGeom prst="diamond">
            <a:avLst/>
          </a:prstGeom>
          <a:solidFill>
            <a:srgbClr val="F2D77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560" rIns="90000" bIns="75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36"/>
          <p:cNvSpPr/>
          <p:nvPr/>
        </p:nvSpPr>
        <p:spPr>
          <a:xfrm>
            <a:off x="69238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Shape 37"/>
          <p:cNvSpPr/>
          <p:nvPr/>
        </p:nvSpPr>
        <p:spPr>
          <a:xfrm>
            <a:off x="7138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Text 0"/>
          <p:cNvSpPr/>
          <p:nvPr/>
        </p:nvSpPr>
        <p:spPr>
          <a:xfrm>
            <a:off x="548640" y="31104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299">
                <a:solidFill>
                  <a:srgbClr val="F2D774"/>
                </a:solidFill>
                <a:latin typeface="Arial"/>
                <a:ea typeface="Arial"/>
              </a:rPr>
              <a:t>PROTOTYPE PRESENTATION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1"/>
          <p:cNvSpPr/>
          <p:nvPr/>
        </p:nvSpPr>
        <p:spPr>
          <a:xfrm>
            <a:off x="548640" y="54864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5F4F0"/>
                </a:solidFill>
                <a:latin typeface="Arial"/>
                <a:ea typeface="Arial"/>
              </a:rPr>
              <a:t>Built where students already watch: inside the Echo360 player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Shape 2"/>
          <p:cNvSpPr/>
          <p:nvPr/>
        </p:nvSpPr>
        <p:spPr>
          <a:xfrm>
            <a:off x="548640" y="1371600"/>
            <a:ext cx="7452000" cy="4525920"/>
          </a:xfrm>
          <a:prstGeom prst="roundRect">
            <a:avLst>
              <a:gd name="adj" fmla="val 1414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  <a:effectLst>
            <a:outerShdw blurRad="10152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3"/>
          <p:cNvSpPr/>
          <p:nvPr/>
        </p:nvSpPr>
        <p:spPr>
          <a:xfrm>
            <a:off x="777240" y="148140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5F4F0"/>
                </a:solidFill>
                <a:latin typeface="Arial"/>
                <a:ea typeface="Arial"/>
              </a:rPr>
              <a:t>echo</a:t>
            </a:r>
            <a:r>
              <a:rPr lang="en-US" sz="1300" b="1" strike="noStrike" spc="-1">
                <a:solidFill>
                  <a:srgbClr val="E86A93"/>
                </a:solidFill>
                <a:latin typeface="Arial"/>
                <a:ea typeface="Arial"/>
              </a:rPr>
              <a:t>video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4"/>
          <p:cNvSpPr/>
          <p:nvPr/>
        </p:nvSpPr>
        <p:spPr>
          <a:xfrm>
            <a:off x="1965960" y="1508760"/>
            <a:ext cx="3291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07D74"/>
                </a:solidFill>
                <a:latin typeface="Calibri"/>
                <a:ea typeface="Calibri"/>
              </a:rPr>
              <a:t>PHYS1001 Mechanics · Semester 2 2026 · Bentley · Week 1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Shape 5"/>
          <p:cNvSpPr/>
          <p:nvPr/>
        </p:nvSpPr>
        <p:spPr>
          <a:xfrm>
            <a:off x="5394960" y="1481400"/>
            <a:ext cx="1691280" cy="27396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6"/>
          <p:cNvSpPr/>
          <p:nvPr/>
        </p:nvSpPr>
        <p:spPr>
          <a:xfrm>
            <a:off x="5394960" y="14720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97">
                <a:solidFill>
                  <a:srgbClr val="F2D774"/>
                </a:solidFill>
                <a:latin typeface="Arial"/>
                <a:ea typeface="Arial"/>
              </a:rPr>
              <a:t>◆ COGNIVUE · AI ADD-ON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Shape 7"/>
          <p:cNvSpPr/>
          <p:nvPr/>
        </p:nvSpPr>
        <p:spPr>
          <a:xfrm>
            <a:off x="7178040" y="1481400"/>
            <a:ext cx="621360" cy="27396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8"/>
          <p:cNvSpPr/>
          <p:nvPr/>
        </p:nvSpPr>
        <p:spPr>
          <a:xfrm>
            <a:off x="7178040" y="1472040"/>
            <a:ext cx="621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97">
                <a:solidFill>
                  <a:srgbClr val="F2D774"/>
                </a:solidFill>
                <a:latin typeface="Courier New"/>
                <a:ea typeface="Courier New"/>
              </a:rPr>
              <a:t>◆ 0 pts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Shape 9"/>
          <p:cNvSpPr/>
          <p:nvPr/>
        </p:nvSpPr>
        <p:spPr>
          <a:xfrm>
            <a:off x="777240" y="1874520"/>
            <a:ext cx="6994800" cy="328680"/>
          </a:xfrm>
          <a:prstGeom prst="roundRect">
            <a:avLst>
              <a:gd name="adj" fmla="val 13889"/>
            </a:avLst>
          </a:prstGeom>
          <a:solidFill>
            <a:srgbClr val="D633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10"/>
          <p:cNvSpPr/>
          <p:nvPr/>
        </p:nvSpPr>
        <p:spPr>
          <a:xfrm>
            <a:off x="914400" y="1874520"/>
            <a:ext cx="67204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PHYS1001 Mechanics (2026 S2) 105.413:LT   ·   Week 1: Projectile Motion   ·   Dr Elena Marsh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Shape 11"/>
          <p:cNvSpPr/>
          <p:nvPr/>
        </p:nvSpPr>
        <p:spPr>
          <a:xfrm>
            <a:off x="777240" y="2331720"/>
            <a:ext cx="6994800" cy="2377080"/>
          </a:xfrm>
          <a:prstGeom prst="roundRect">
            <a:avLst>
              <a:gd name="adj" fmla="val 1923"/>
            </a:avLst>
          </a:prstGeom>
          <a:solidFill>
            <a:srgbClr val="0F0F13"/>
          </a:solidFill>
          <a:ln w="9525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12"/>
          <p:cNvSpPr/>
          <p:nvPr/>
        </p:nvSpPr>
        <p:spPr>
          <a:xfrm>
            <a:off x="6492240" y="2468880"/>
            <a:ext cx="1142640" cy="25560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13"/>
          <p:cNvSpPr/>
          <p:nvPr/>
        </p:nvSpPr>
        <p:spPr>
          <a:xfrm>
            <a:off x="6492240" y="245988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97">
                <a:solidFill>
                  <a:srgbClr val="F2D774"/>
                </a:solidFill>
                <a:latin typeface="Arial"/>
                <a:ea typeface="Arial"/>
              </a:rPr>
              <a:t>◆ AI · PAUSED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14"/>
          <p:cNvSpPr/>
          <p:nvPr/>
        </p:nvSpPr>
        <p:spPr>
          <a:xfrm>
            <a:off x="1051560" y="2587680"/>
            <a:ext cx="41144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199">
                <a:solidFill>
                  <a:srgbClr val="F2D774"/>
                </a:solidFill>
                <a:latin typeface="Arial"/>
                <a:ea typeface="Arial"/>
              </a:rPr>
              <a:t>PHYS1001 MECHANICS · WEEK 1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 15"/>
          <p:cNvSpPr/>
          <p:nvPr/>
        </p:nvSpPr>
        <p:spPr>
          <a:xfrm>
            <a:off x="1051560" y="2825640"/>
            <a:ext cx="4754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F5F4F0"/>
                </a:solidFill>
                <a:latin typeface="Arial"/>
                <a:ea typeface="Arial"/>
              </a:rPr>
              <a:t>Projectile Motion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16"/>
          <p:cNvSpPr/>
          <p:nvPr/>
        </p:nvSpPr>
        <p:spPr>
          <a:xfrm>
            <a:off x="1051560" y="3429000"/>
            <a:ext cx="4388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A9A69C"/>
                </a:solidFill>
                <a:latin typeface="Calibri"/>
                <a:ea typeface="Calibri"/>
              </a:rPr>
              <a:t>Dr Elena Marsh · Recorded lecture · Semester 2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 17"/>
          <p:cNvSpPr/>
          <p:nvPr/>
        </p:nvSpPr>
        <p:spPr>
          <a:xfrm>
            <a:off x="1051560" y="3813120"/>
            <a:ext cx="44802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A9A69C"/>
                </a:solidFill>
                <a:latin typeface="Calibri"/>
                <a:ea typeface="Calibri"/>
              </a:rPr>
              <a:t>◆  Horizontal and vertical motion, step by step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A9A69C"/>
                </a:solidFill>
                <a:latin typeface="Calibri"/>
                <a:ea typeface="Calibri"/>
              </a:rPr>
              <a:t>◆  Time of flight, range, and the 45° result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Shape 18"/>
          <p:cNvSpPr/>
          <p:nvPr/>
        </p:nvSpPr>
        <p:spPr>
          <a:xfrm>
            <a:off x="6355080" y="3200400"/>
            <a:ext cx="658080" cy="658080"/>
          </a:xfrm>
          <a:prstGeom prst="ellipse">
            <a:avLst/>
          </a:prstGeom>
          <a:solidFill>
            <a:srgbClr val="D633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Shape 19"/>
          <p:cNvSpPr/>
          <p:nvPr/>
        </p:nvSpPr>
        <p:spPr>
          <a:xfrm rot="5400000">
            <a:off x="6565680" y="3364920"/>
            <a:ext cx="273960" cy="3286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20"/>
          <p:cNvSpPr/>
          <p:nvPr/>
        </p:nvSpPr>
        <p:spPr>
          <a:xfrm>
            <a:off x="868680" y="4944600"/>
            <a:ext cx="6811920" cy="40680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5840" rIns="90000" bIns="-158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Shape 21"/>
          <p:cNvSpPr/>
          <p:nvPr/>
        </p:nvSpPr>
        <p:spPr>
          <a:xfrm>
            <a:off x="868680" y="4944600"/>
            <a:ext cx="135720" cy="40680"/>
          </a:xfrm>
          <a:prstGeom prst="roundRect">
            <a:avLst>
              <a:gd name="adj" fmla="val 50000"/>
            </a:avLst>
          </a:prstGeom>
          <a:solidFill>
            <a:srgbClr val="D633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5840" rIns="90000" bIns="-158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Shape 22"/>
          <p:cNvSpPr/>
          <p:nvPr/>
        </p:nvSpPr>
        <p:spPr>
          <a:xfrm>
            <a:off x="945360" y="4905720"/>
            <a:ext cx="118440" cy="118440"/>
          </a:xfrm>
          <a:prstGeom prst="ellipse">
            <a:avLst/>
          </a:prstGeom>
          <a:solidFill>
            <a:srgbClr val="F5F4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23"/>
          <p:cNvSpPr/>
          <p:nvPr/>
        </p:nvSpPr>
        <p:spPr>
          <a:xfrm>
            <a:off x="1217880" y="4905720"/>
            <a:ext cx="118440" cy="11844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400" rIns="90000" bIns="144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24"/>
          <p:cNvSpPr/>
          <p:nvPr/>
        </p:nvSpPr>
        <p:spPr>
          <a:xfrm>
            <a:off x="2580480" y="4905720"/>
            <a:ext cx="118440" cy="11844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400" rIns="90000" bIns="144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25"/>
          <p:cNvSpPr/>
          <p:nvPr/>
        </p:nvSpPr>
        <p:spPr>
          <a:xfrm>
            <a:off x="4011120" y="4905720"/>
            <a:ext cx="118440" cy="11844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400" rIns="90000" bIns="144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26"/>
          <p:cNvSpPr/>
          <p:nvPr/>
        </p:nvSpPr>
        <p:spPr>
          <a:xfrm>
            <a:off x="5441760" y="4905720"/>
            <a:ext cx="118440" cy="11844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400" rIns="90000" bIns="144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27"/>
          <p:cNvSpPr/>
          <p:nvPr/>
        </p:nvSpPr>
        <p:spPr>
          <a:xfrm>
            <a:off x="6940440" y="4905720"/>
            <a:ext cx="118440" cy="11844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400" rIns="90000" bIns="144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28"/>
          <p:cNvSpPr/>
          <p:nvPr/>
        </p:nvSpPr>
        <p:spPr>
          <a:xfrm>
            <a:off x="868680" y="516636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5F4F0"/>
                </a:solidFill>
                <a:latin typeface="Courier New"/>
                <a:ea typeface="Courier New"/>
              </a:rPr>
              <a:t>▶   ↺10   0:00 / 7:30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Shape 29"/>
          <p:cNvSpPr/>
          <p:nvPr/>
        </p:nvSpPr>
        <p:spPr>
          <a:xfrm>
            <a:off x="3063240" y="5166360"/>
            <a:ext cx="1554120" cy="27396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30"/>
          <p:cNvSpPr/>
          <p:nvPr/>
        </p:nvSpPr>
        <p:spPr>
          <a:xfrm>
            <a:off x="3063240" y="515736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97">
                <a:solidFill>
                  <a:srgbClr val="F2D774"/>
                </a:solidFill>
                <a:latin typeface="Arial"/>
                <a:ea typeface="Arial"/>
              </a:rPr>
              <a:t>◆ NEXT CHECKPOINT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31"/>
          <p:cNvSpPr/>
          <p:nvPr/>
        </p:nvSpPr>
        <p:spPr>
          <a:xfrm>
            <a:off x="4709160" y="5166360"/>
            <a:ext cx="1965600" cy="27396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32"/>
          <p:cNvSpPr/>
          <p:nvPr/>
        </p:nvSpPr>
        <p:spPr>
          <a:xfrm>
            <a:off x="4709160" y="51573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97">
                <a:solidFill>
                  <a:srgbClr val="A9A69C"/>
                </a:solidFill>
                <a:latin typeface="Arial"/>
                <a:ea typeface="Arial"/>
              </a:rPr>
              <a:t>FINISH &amp; VIEW SUMMARY ⏭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Shape 33"/>
          <p:cNvSpPr/>
          <p:nvPr/>
        </p:nvSpPr>
        <p:spPr>
          <a:xfrm>
            <a:off x="6766560" y="5166360"/>
            <a:ext cx="456840" cy="27396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34"/>
          <p:cNvSpPr/>
          <p:nvPr/>
        </p:nvSpPr>
        <p:spPr>
          <a:xfrm>
            <a:off x="6766560" y="51573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Arial"/>
                <a:ea typeface="Arial"/>
              </a:rPr>
              <a:t>CC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35"/>
          <p:cNvSpPr/>
          <p:nvPr/>
        </p:nvSpPr>
        <p:spPr>
          <a:xfrm>
            <a:off x="7315200" y="51663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A9A69C"/>
                </a:solidFill>
                <a:latin typeface="Courier New"/>
                <a:ea typeface="Courier New"/>
              </a:rPr>
              <a:t>4x   ⛶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36"/>
          <p:cNvSpPr/>
          <p:nvPr/>
        </p:nvSpPr>
        <p:spPr>
          <a:xfrm>
            <a:off x="868680" y="556884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199">
                <a:solidFill>
                  <a:srgbClr val="807D74"/>
                </a:solidFill>
                <a:latin typeface="Arial"/>
                <a:ea typeface="Arial"/>
              </a:rPr>
              <a:t>LECTURE MODE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Shape 37"/>
          <p:cNvSpPr/>
          <p:nvPr/>
        </p:nvSpPr>
        <p:spPr>
          <a:xfrm>
            <a:off x="2103120" y="5550480"/>
            <a:ext cx="1142640" cy="273960"/>
          </a:xfrm>
          <a:prstGeom prst="roundRect">
            <a:avLst>
              <a:gd name="adj" fmla="val 50000"/>
            </a:avLst>
          </a:prstGeom>
          <a:solidFill>
            <a:srgbClr val="D633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38"/>
          <p:cNvSpPr/>
          <p:nvPr/>
        </p:nvSpPr>
        <p:spPr>
          <a:xfrm>
            <a:off x="2103120" y="55411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✓ Interactive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Shape 39"/>
          <p:cNvSpPr/>
          <p:nvPr/>
        </p:nvSpPr>
        <p:spPr>
          <a:xfrm>
            <a:off x="3310200" y="5550480"/>
            <a:ext cx="1051200" cy="27396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40"/>
          <p:cNvSpPr/>
          <p:nvPr/>
        </p:nvSpPr>
        <p:spPr>
          <a:xfrm>
            <a:off x="3310200" y="5541120"/>
            <a:ext cx="1051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A9A69C"/>
                </a:solidFill>
                <a:latin typeface="Calibri"/>
                <a:ea typeface="Calibri"/>
              </a:rPr>
              <a:t>Watch only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Text 41"/>
          <p:cNvSpPr/>
          <p:nvPr/>
        </p:nvSpPr>
        <p:spPr>
          <a:xfrm>
            <a:off x="4480560" y="556884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07D74"/>
                </a:solidFill>
                <a:latin typeface="Calibri"/>
                <a:ea typeface="Calibri"/>
              </a:rPr>
              <a:t>Interactive pauses at key concepts · Watch only never interrupts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Shape 42"/>
          <p:cNvSpPr/>
          <p:nvPr/>
        </p:nvSpPr>
        <p:spPr>
          <a:xfrm>
            <a:off x="8183880" y="1371600"/>
            <a:ext cx="3456000" cy="1481040"/>
          </a:xfrm>
          <a:prstGeom prst="roundRect">
            <a:avLst>
              <a:gd name="adj" fmla="val 4321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 43"/>
          <p:cNvSpPr/>
          <p:nvPr/>
        </p:nvSpPr>
        <p:spPr>
          <a:xfrm>
            <a:off x="8385120" y="1508760"/>
            <a:ext cx="3053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5F4F0"/>
                </a:solidFill>
                <a:latin typeface="Arial"/>
                <a:ea typeface="Arial"/>
              </a:rPr>
              <a:t>Week 1: Projectile Motion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44"/>
          <p:cNvSpPr/>
          <p:nvPr/>
        </p:nvSpPr>
        <p:spPr>
          <a:xfrm>
            <a:off x="8385120" y="1783080"/>
            <a:ext cx="3053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A9A69C"/>
                </a:solidFill>
                <a:latin typeface="Calibri"/>
                <a:ea typeface="Calibri"/>
              </a:rPr>
              <a:t>AI has scanned this recording's transcript &amp; slides and placed </a:t>
            </a:r>
            <a:r>
              <a:rPr lang="en-US" sz="950" b="1" strike="noStrike" spc="-1">
                <a:solidFill>
                  <a:srgbClr val="F5F4F0"/>
                </a:solidFill>
                <a:latin typeface="Calibri"/>
                <a:ea typeface="Calibri"/>
              </a:rPr>
              <a:t>5 concept checkpoints.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 45"/>
          <p:cNvSpPr/>
          <p:nvPr/>
        </p:nvSpPr>
        <p:spPr>
          <a:xfrm>
            <a:off x="8385120" y="2450520"/>
            <a:ext cx="3053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F2D774"/>
                </a:solidFill>
                <a:latin typeface="Courier New"/>
                <a:ea typeface="Courier New"/>
              </a:rPr>
              <a:t>POINTS 0    ACCURACY N/A    STREAK 0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Shape 46"/>
          <p:cNvSpPr/>
          <p:nvPr/>
        </p:nvSpPr>
        <p:spPr>
          <a:xfrm>
            <a:off x="8183880" y="3017520"/>
            <a:ext cx="3456000" cy="2880000"/>
          </a:xfrm>
          <a:prstGeom prst="roundRect">
            <a:avLst>
              <a:gd name="adj" fmla="val 2222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47"/>
          <p:cNvSpPr/>
          <p:nvPr/>
        </p:nvSpPr>
        <p:spPr>
          <a:xfrm>
            <a:off x="8385120" y="3145680"/>
            <a:ext cx="3053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5F4F0"/>
                </a:solidFill>
                <a:latin typeface="Arial"/>
                <a:ea typeface="Arial"/>
              </a:rPr>
              <a:t>Concept checkpoints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Shape 48"/>
          <p:cNvSpPr/>
          <p:nvPr/>
        </p:nvSpPr>
        <p:spPr>
          <a:xfrm>
            <a:off x="8385120" y="3511440"/>
            <a:ext cx="475200" cy="237240"/>
          </a:xfrm>
          <a:prstGeom prst="roundRect">
            <a:avLst>
              <a:gd name="adj" fmla="val 19231"/>
            </a:avLst>
          </a:prstGeom>
          <a:solidFill>
            <a:srgbClr val="1D1D24"/>
          </a:solidFill>
          <a:ln w="9525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 49"/>
          <p:cNvSpPr/>
          <p:nvPr/>
        </p:nvSpPr>
        <p:spPr>
          <a:xfrm>
            <a:off x="8385120" y="3502080"/>
            <a:ext cx="4752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E86A93"/>
                </a:solidFill>
                <a:latin typeface="Courier New"/>
                <a:ea typeface="Courier New"/>
              </a:rPr>
              <a:t>0:30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50"/>
          <p:cNvSpPr/>
          <p:nvPr/>
        </p:nvSpPr>
        <p:spPr>
          <a:xfrm>
            <a:off x="8952120" y="3483720"/>
            <a:ext cx="1965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5F4F0"/>
                </a:solidFill>
                <a:latin typeface="Calibri"/>
                <a:ea typeface="Calibri"/>
              </a:rPr>
              <a:t>Independence of motion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 51"/>
          <p:cNvSpPr/>
          <p:nvPr/>
        </p:nvSpPr>
        <p:spPr>
          <a:xfrm>
            <a:off x="10908720" y="3483720"/>
            <a:ext cx="658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E86A93"/>
                </a:solidFill>
                <a:latin typeface="Calibri"/>
                <a:ea typeface="Calibri"/>
              </a:rPr>
              <a:t>Take quiz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Shape 52"/>
          <p:cNvSpPr/>
          <p:nvPr/>
        </p:nvSpPr>
        <p:spPr>
          <a:xfrm>
            <a:off x="8385120" y="3986640"/>
            <a:ext cx="475200" cy="237240"/>
          </a:xfrm>
          <a:prstGeom prst="roundRect">
            <a:avLst>
              <a:gd name="adj" fmla="val 19231"/>
            </a:avLst>
          </a:prstGeom>
          <a:solidFill>
            <a:srgbClr val="1D1D24"/>
          </a:solidFill>
          <a:ln w="9525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Text 53"/>
          <p:cNvSpPr/>
          <p:nvPr/>
        </p:nvSpPr>
        <p:spPr>
          <a:xfrm>
            <a:off x="8385120" y="3977640"/>
            <a:ext cx="4752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E86A93"/>
                </a:solidFill>
                <a:latin typeface="Courier New"/>
                <a:ea typeface="Courier New"/>
              </a:rPr>
              <a:t>1:25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54"/>
          <p:cNvSpPr/>
          <p:nvPr/>
        </p:nvSpPr>
        <p:spPr>
          <a:xfrm>
            <a:off x="8952120" y="3959280"/>
            <a:ext cx="1965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5F4F0"/>
                </a:solidFill>
                <a:latin typeface="Calibri"/>
                <a:ea typeface="Calibri"/>
              </a:rPr>
              <a:t>Horizontal motion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Text 55"/>
          <p:cNvSpPr/>
          <p:nvPr/>
        </p:nvSpPr>
        <p:spPr>
          <a:xfrm>
            <a:off x="10908720" y="3959280"/>
            <a:ext cx="658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E86A93"/>
                </a:solidFill>
                <a:latin typeface="Calibri"/>
                <a:ea typeface="Calibri"/>
              </a:rPr>
              <a:t>Take quiz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Shape 56"/>
          <p:cNvSpPr/>
          <p:nvPr/>
        </p:nvSpPr>
        <p:spPr>
          <a:xfrm>
            <a:off x="8385120" y="4462200"/>
            <a:ext cx="475200" cy="237240"/>
          </a:xfrm>
          <a:prstGeom prst="roundRect">
            <a:avLst>
              <a:gd name="adj" fmla="val 19231"/>
            </a:avLst>
          </a:prstGeom>
          <a:solidFill>
            <a:srgbClr val="1D1D24"/>
          </a:solidFill>
          <a:ln w="9525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57"/>
          <p:cNvSpPr/>
          <p:nvPr/>
        </p:nvSpPr>
        <p:spPr>
          <a:xfrm>
            <a:off x="8385120" y="4453200"/>
            <a:ext cx="4752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E86A93"/>
                </a:solidFill>
                <a:latin typeface="Courier New"/>
                <a:ea typeface="Courier New"/>
              </a:rPr>
              <a:t>2:50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Text 58"/>
          <p:cNvSpPr/>
          <p:nvPr/>
        </p:nvSpPr>
        <p:spPr>
          <a:xfrm>
            <a:off x="8952120" y="4434840"/>
            <a:ext cx="1965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5F4F0"/>
                </a:solidFill>
                <a:latin typeface="Calibri"/>
                <a:ea typeface="Calibri"/>
              </a:rPr>
              <a:t>Vertical motion &amp; the peak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 59"/>
          <p:cNvSpPr/>
          <p:nvPr/>
        </p:nvSpPr>
        <p:spPr>
          <a:xfrm>
            <a:off x="10908720" y="4434840"/>
            <a:ext cx="658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E86A93"/>
                </a:solidFill>
                <a:latin typeface="Calibri"/>
                <a:ea typeface="Calibri"/>
              </a:rPr>
              <a:t>Take quiz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Shape 60"/>
          <p:cNvSpPr/>
          <p:nvPr/>
        </p:nvSpPr>
        <p:spPr>
          <a:xfrm>
            <a:off x="8385120" y="4937760"/>
            <a:ext cx="475200" cy="237240"/>
          </a:xfrm>
          <a:prstGeom prst="roundRect">
            <a:avLst>
              <a:gd name="adj" fmla="val 19231"/>
            </a:avLst>
          </a:prstGeom>
          <a:solidFill>
            <a:srgbClr val="1D1D24"/>
          </a:solidFill>
          <a:ln w="9525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Text 61"/>
          <p:cNvSpPr/>
          <p:nvPr/>
        </p:nvSpPr>
        <p:spPr>
          <a:xfrm>
            <a:off x="8385120" y="4928760"/>
            <a:ext cx="4752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E86A93"/>
                </a:solidFill>
                <a:latin typeface="Courier New"/>
                <a:ea typeface="Courier New"/>
              </a:rPr>
              <a:t>4:20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62"/>
          <p:cNvSpPr/>
          <p:nvPr/>
        </p:nvSpPr>
        <p:spPr>
          <a:xfrm>
            <a:off x="8952120" y="4910400"/>
            <a:ext cx="1965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5F4F0"/>
                </a:solidFill>
                <a:latin typeface="Calibri"/>
                <a:ea typeface="Calibri"/>
              </a:rPr>
              <a:t>Time of flight &amp; range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 63"/>
          <p:cNvSpPr/>
          <p:nvPr/>
        </p:nvSpPr>
        <p:spPr>
          <a:xfrm>
            <a:off x="10908720" y="4910400"/>
            <a:ext cx="658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E86A93"/>
                </a:solidFill>
                <a:latin typeface="Calibri"/>
                <a:ea typeface="Calibri"/>
              </a:rPr>
              <a:t>Take quiz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Shape 64"/>
          <p:cNvSpPr/>
          <p:nvPr/>
        </p:nvSpPr>
        <p:spPr>
          <a:xfrm>
            <a:off x="8385120" y="5413320"/>
            <a:ext cx="475200" cy="237240"/>
          </a:xfrm>
          <a:prstGeom prst="roundRect">
            <a:avLst>
              <a:gd name="adj" fmla="val 19231"/>
            </a:avLst>
          </a:prstGeom>
          <a:solidFill>
            <a:srgbClr val="1D1D24"/>
          </a:solidFill>
          <a:ln w="9525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 65"/>
          <p:cNvSpPr/>
          <p:nvPr/>
        </p:nvSpPr>
        <p:spPr>
          <a:xfrm>
            <a:off x="8385120" y="5403960"/>
            <a:ext cx="4752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E86A93"/>
                </a:solidFill>
                <a:latin typeface="Courier New"/>
                <a:ea typeface="Courier New"/>
              </a:rPr>
              <a:t>5:50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Text 66"/>
          <p:cNvSpPr/>
          <p:nvPr/>
        </p:nvSpPr>
        <p:spPr>
          <a:xfrm>
            <a:off x="8952120" y="5385960"/>
            <a:ext cx="1965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5F4F0"/>
                </a:solidFill>
                <a:latin typeface="Calibri"/>
                <a:ea typeface="Calibri"/>
              </a:rPr>
              <a:t>Real-world application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Text 67"/>
          <p:cNvSpPr/>
          <p:nvPr/>
        </p:nvSpPr>
        <p:spPr>
          <a:xfrm>
            <a:off x="10908720" y="5385960"/>
            <a:ext cx="658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E86A93"/>
                </a:solidFill>
                <a:latin typeface="Calibri"/>
                <a:ea typeface="Calibri"/>
              </a:rPr>
              <a:t>Take quiz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68"/>
          <p:cNvSpPr/>
          <p:nvPr/>
        </p:nvSpPr>
        <p:spPr>
          <a:xfrm>
            <a:off x="548640" y="599832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807D74"/>
                </a:solidFill>
                <a:latin typeface="Calibri"/>
                <a:ea typeface="Calibri"/>
              </a:rPr>
              <a:t>Recreated from the working demo built this challenge week.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A129BFB-B1B6-B662-7D5F-262CC144BBE5}"/>
              </a:ext>
            </a:extLst>
          </p:cNvPr>
          <p:cNvGrpSpPr/>
          <p:nvPr/>
        </p:nvGrpSpPr>
        <p:grpSpPr>
          <a:xfrm>
            <a:off x="4898520" y="6069600"/>
            <a:ext cx="2331360" cy="402120"/>
            <a:chOff x="4114800" y="5888880"/>
            <a:chExt cx="2331360" cy="402120"/>
          </a:xfrm>
        </p:grpSpPr>
        <p:sp>
          <p:nvSpPr>
            <p:cNvPr id="524" name="Shape 69">
              <a:hlinkClick r:id="rId3"/>
            </p:cNvPr>
            <p:cNvSpPr/>
            <p:nvPr/>
          </p:nvSpPr>
          <p:spPr>
            <a:xfrm>
              <a:off x="4114800" y="5888880"/>
              <a:ext cx="2331360" cy="402120"/>
            </a:xfrm>
            <a:prstGeom prst="roundRect">
              <a:avLst>
                <a:gd name="adj" fmla="val 50000"/>
              </a:avLst>
            </a:prstGeom>
            <a:solidFill>
              <a:srgbClr val="1D1D24"/>
            </a:solidFill>
            <a:ln w="12700">
              <a:solidFill>
                <a:srgbClr val="8A7A3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5" name="Text 70"/>
            <p:cNvSpPr/>
            <p:nvPr/>
          </p:nvSpPr>
          <p:spPr>
            <a:xfrm>
              <a:off x="4114800" y="5888880"/>
              <a:ext cx="2331360" cy="40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1" u="sng" strike="noStrike" spc="148">
                  <a:solidFill>
                    <a:srgbClr val="F2D774"/>
                  </a:solidFill>
                  <a:uFillTx/>
                  <a:latin typeface="Arial"/>
                  <a:ea typeface="Arial"/>
                  <a:hlinkClick r:id="rId3"/>
                </a:rPr>
                <a:t>▶  OPEN THE LIVE DEMO</a:t>
              </a:r>
              <a:endParaRPr lang="en-US" sz="9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26" name="Text 71"/>
          <p:cNvSpPr/>
          <p:nvPr/>
        </p:nvSpPr>
        <p:spPr>
          <a:xfrm>
            <a:off x="548640" y="651060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199">
                <a:solidFill>
                  <a:srgbClr val="807D74"/>
                </a:solidFill>
                <a:latin typeface="Arial"/>
                <a:ea typeface="Arial"/>
              </a:rPr>
              <a:t>COGNIVUE  ·  GROUP 12  ·  FUTURE LEARNING CONCEPT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Shape 72"/>
          <p:cNvSpPr/>
          <p:nvPr/>
        </p:nvSpPr>
        <p:spPr>
          <a:xfrm>
            <a:off x="4989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Shape 73"/>
          <p:cNvSpPr/>
          <p:nvPr/>
        </p:nvSpPr>
        <p:spPr>
          <a:xfrm>
            <a:off x="52048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Shape 74"/>
          <p:cNvSpPr/>
          <p:nvPr/>
        </p:nvSpPr>
        <p:spPr>
          <a:xfrm>
            <a:off x="5419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Shape 75"/>
          <p:cNvSpPr/>
          <p:nvPr/>
        </p:nvSpPr>
        <p:spPr>
          <a:xfrm>
            <a:off x="56343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Shape 76"/>
          <p:cNvSpPr/>
          <p:nvPr/>
        </p:nvSpPr>
        <p:spPr>
          <a:xfrm>
            <a:off x="584928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Shape 77"/>
          <p:cNvSpPr/>
          <p:nvPr/>
        </p:nvSpPr>
        <p:spPr>
          <a:xfrm>
            <a:off x="60642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Shape 78"/>
          <p:cNvSpPr/>
          <p:nvPr/>
        </p:nvSpPr>
        <p:spPr>
          <a:xfrm>
            <a:off x="627912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Shape 79"/>
          <p:cNvSpPr/>
          <p:nvPr/>
        </p:nvSpPr>
        <p:spPr>
          <a:xfrm>
            <a:off x="649404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Shape 80"/>
          <p:cNvSpPr/>
          <p:nvPr/>
        </p:nvSpPr>
        <p:spPr>
          <a:xfrm>
            <a:off x="670896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Shape 81"/>
          <p:cNvSpPr/>
          <p:nvPr/>
        </p:nvSpPr>
        <p:spPr>
          <a:xfrm>
            <a:off x="6903360" y="6567840"/>
            <a:ext cx="104760" cy="104760"/>
          </a:xfrm>
          <a:prstGeom prst="diamond">
            <a:avLst/>
          </a:prstGeom>
          <a:solidFill>
            <a:srgbClr val="F2D77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560" rIns="90000" bIns="75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82"/>
          <p:cNvSpPr/>
          <p:nvPr/>
        </p:nvSpPr>
        <p:spPr>
          <a:xfrm>
            <a:off x="7138800" y="6588360"/>
            <a:ext cx="63720" cy="63720"/>
          </a:xfrm>
          <a:prstGeom prst="diamond">
            <a:avLst/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960" rIns="90000" bIns="-129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Shape 0"/>
          <p:cNvSpPr/>
          <p:nvPr/>
        </p:nvSpPr>
        <p:spPr>
          <a:xfrm>
            <a:off x="685800" y="1051560"/>
            <a:ext cx="3520080" cy="1554120"/>
          </a:xfrm>
          <a:prstGeom prst="roundRect">
            <a:avLst>
              <a:gd name="adj" fmla="val 4118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1"/>
          <p:cNvSpPr/>
          <p:nvPr/>
        </p:nvSpPr>
        <p:spPr>
          <a:xfrm>
            <a:off x="905400" y="1234440"/>
            <a:ext cx="3081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199">
                <a:solidFill>
                  <a:srgbClr val="F2D774"/>
                </a:solidFill>
                <a:latin typeface="Arial"/>
                <a:ea typeface="Arial"/>
              </a:rPr>
              <a:t>STUDENTS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 2"/>
          <p:cNvSpPr/>
          <p:nvPr/>
        </p:nvSpPr>
        <p:spPr>
          <a:xfrm>
            <a:off x="905400" y="1527120"/>
            <a:ext cx="308124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F5F4F0"/>
                </a:solidFill>
                <a:latin typeface="Calibri"/>
                <a:ea typeface="Calibri"/>
              </a:rPr>
              <a:t>Revision in minutes, not hours of rewatching.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Shape 3"/>
          <p:cNvSpPr/>
          <p:nvPr/>
        </p:nvSpPr>
        <p:spPr>
          <a:xfrm>
            <a:off x="4389120" y="1051560"/>
            <a:ext cx="3520080" cy="1554120"/>
          </a:xfrm>
          <a:prstGeom prst="roundRect">
            <a:avLst>
              <a:gd name="adj" fmla="val 4118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 4"/>
          <p:cNvSpPr/>
          <p:nvPr/>
        </p:nvSpPr>
        <p:spPr>
          <a:xfrm>
            <a:off x="4608720" y="1234440"/>
            <a:ext cx="3081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199">
                <a:solidFill>
                  <a:srgbClr val="F2D774"/>
                </a:solidFill>
                <a:latin typeface="Arial"/>
                <a:ea typeface="Arial"/>
              </a:rPr>
              <a:t>LECTURERS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Text 5"/>
          <p:cNvSpPr/>
          <p:nvPr/>
        </p:nvSpPr>
        <p:spPr>
          <a:xfrm>
            <a:off x="4608720" y="1527120"/>
            <a:ext cx="308124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F5F4F0"/>
                </a:solidFill>
                <a:latin typeface="Calibri"/>
                <a:ea typeface="Calibri"/>
              </a:rPr>
              <a:t>Misconceptions surface weekly, in time to reteach before the exam.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Shape 6"/>
          <p:cNvSpPr/>
          <p:nvPr/>
        </p:nvSpPr>
        <p:spPr>
          <a:xfrm>
            <a:off x="8092440" y="1051560"/>
            <a:ext cx="3520080" cy="1554120"/>
          </a:xfrm>
          <a:prstGeom prst="roundRect">
            <a:avLst>
              <a:gd name="adj" fmla="val 4118"/>
            </a:avLst>
          </a:prstGeom>
          <a:solidFill>
            <a:srgbClr val="16161B"/>
          </a:solidFill>
          <a:ln w="12700">
            <a:solidFill>
              <a:srgbClr val="2A2A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 7"/>
          <p:cNvSpPr/>
          <p:nvPr/>
        </p:nvSpPr>
        <p:spPr>
          <a:xfrm>
            <a:off x="8312040" y="1234440"/>
            <a:ext cx="3081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199">
                <a:solidFill>
                  <a:srgbClr val="F2D774"/>
                </a:solidFill>
                <a:latin typeface="Arial"/>
                <a:ea typeface="Arial"/>
              </a:rPr>
              <a:t>THE UNIVERSITY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8"/>
          <p:cNvSpPr/>
          <p:nvPr/>
        </p:nvSpPr>
        <p:spPr>
          <a:xfrm>
            <a:off x="8312040" y="1527120"/>
            <a:ext cx="308124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F5F4F0"/>
                </a:solidFill>
                <a:latin typeface="Calibri"/>
                <a:ea typeface="Calibri"/>
              </a:rPr>
              <a:t>More learning from the lecture platform Curtin already runs.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Text 9"/>
          <p:cNvSpPr/>
          <p:nvPr/>
        </p:nvSpPr>
        <p:spPr>
          <a:xfrm>
            <a:off x="0" y="3063240"/>
            <a:ext cx="121914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0" b="1" strike="noStrike" spc="698">
                <a:solidFill>
                  <a:srgbClr val="F2D774"/>
                </a:solidFill>
                <a:latin typeface="Arial"/>
                <a:ea typeface="Arial"/>
              </a:rPr>
              <a:t>COGNIVUE</a:t>
            </a:r>
            <a:endParaRPr lang="en-US" sz="5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10"/>
          <p:cNvSpPr/>
          <p:nvPr/>
        </p:nvSpPr>
        <p:spPr>
          <a:xfrm>
            <a:off x="0" y="4160520"/>
            <a:ext cx="12191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F5F4F0"/>
                </a:solidFill>
                <a:latin typeface="Calibri"/>
                <a:ea typeface="Calibri"/>
              </a:rPr>
              <a:t>See what you missed. Master what matters.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Shape 11"/>
          <p:cNvSpPr/>
          <p:nvPr/>
        </p:nvSpPr>
        <p:spPr>
          <a:xfrm>
            <a:off x="3813120" y="5054400"/>
            <a:ext cx="4571640" cy="40680"/>
          </a:xfrm>
          <a:prstGeom prst="roundRect">
            <a:avLst>
              <a:gd name="adj" fmla="val 50000"/>
            </a:avLst>
          </a:prstGeom>
          <a:solidFill>
            <a:srgbClr val="2A2A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5840" rIns="90000" bIns="-158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Shape 12"/>
          <p:cNvSpPr/>
          <p:nvPr/>
        </p:nvSpPr>
        <p:spPr>
          <a:xfrm>
            <a:off x="3813120" y="5054400"/>
            <a:ext cx="4571640" cy="40680"/>
          </a:xfrm>
          <a:prstGeom prst="roundRect">
            <a:avLst>
              <a:gd name="adj" fmla="val 50000"/>
            </a:avLst>
          </a:prstGeom>
          <a:solidFill>
            <a:srgbClr val="D633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5840" rIns="90000" bIns="-158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Shape 13"/>
          <p:cNvSpPr/>
          <p:nvPr/>
        </p:nvSpPr>
        <p:spPr>
          <a:xfrm>
            <a:off x="8325720" y="5015520"/>
            <a:ext cx="118440" cy="118440"/>
          </a:xfrm>
          <a:prstGeom prst="ellipse">
            <a:avLst/>
          </a:prstGeom>
          <a:solidFill>
            <a:srgbClr val="F5F4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14"/>
          <p:cNvSpPr/>
          <p:nvPr/>
        </p:nvSpPr>
        <p:spPr>
          <a:xfrm>
            <a:off x="4018680" y="5006520"/>
            <a:ext cx="136800" cy="13680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15"/>
          <p:cNvSpPr/>
          <p:nvPr/>
        </p:nvSpPr>
        <p:spPr>
          <a:xfrm>
            <a:off x="4978800" y="5006520"/>
            <a:ext cx="136800" cy="13680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16"/>
          <p:cNvSpPr/>
          <p:nvPr/>
        </p:nvSpPr>
        <p:spPr>
          <a:xfrm>
            <a:off x="5893200" y="5006520"/>
            <a:ext cx="136800" cy="13680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17"/>
          <p:cNvSpPr/>
          <p:nvPr/>
        </p:nvSpPr>
        <p:spPr>
          <a:xfrm>
            <a:off x="6853320" y="5006520"/>
            <a:ext cx="136800" cy="13680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18"/>
          <p:cNvSpPr/>
          <p:nvPr/>
        </p:nvSpPr>
        <p:spPr>
          <a:xfrm>
            <a:off x="7859160" y="5006520"/>
            <a:ext cx="136800" cy="136800"/>
          </a:xfrm>
          <a:prstGeom prst="diamond">
            <a:avLst/>
          </a:prstGeom>
          <a:solidFill>
            <a:srgbClr val="F2D774"/>
          </a:solidFill>
          <a:ln w="12700">
            <a:solidFill>
              <a:srgbClr val="0C0C0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19"/>
          <p:cNvSpPr/>
          <p:nvPr/>
        </p:nvSpPr>
        <p:spPr>
          <a:xfrm>
            <a:off x="0" y="5257800"/>
            <a:ext cx="121914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07D74"/>
                </a:solidFill>
                <a:latin typeface="Courier New"/>
                <a:ea typeface="Courier New"/>
              </a:rPr>
              <a:t>All checkpoints complete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hape 20">
            <a:hlinkClick r:id="rId3"/>
          </p:cNvPr>
          <p:cNvSpPr/>
          <p:nvPr/>
        </p:nvSpPr>
        <p:spPr>
          <a:xfrm>
            <a:off x="4773240" y="5596200"/>
            <a:ext cx="2651400" cy="402120"/>
          </a:xfrm>
          <a:prstGeom prst="roundRect">
            <a:avLst>
              <a:gd name="adj" fmla="val 50000"/>
            </a:avLst>
          </a:prstGeom>
          <a:solidFill>
            <a:srgbClr val="1D1D24"/>
          </a:solidFill>
          <a:ln w="12700">
            <a:solidFill>
              <a:srgbClr val="8A7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21"/>
          <p:cNvSpPr/>
          <p:nvPr/>
        </p:nvSpPr>
        <p:spPr>
          <a:xfrm>
            <a:off x="4773240" y="5596200"/>
            <a:ext cx="26514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sng" strike="noStrike" spc="148" dirty="0">
                <a:solidFill>
                  <a:srgbClr val="F2D774"/>
                </a:solidFill>
                <a:uFillTx/>
                <a:latin typeface="Arial"/>
                <a:ea typeface="Arial"/>
                <a:hlinkClick r:id="rId3"/>
              </a:rPr>
              <a:t>▶  OPEN THE LIVE DEMO</a:t>
            </a:r>
            <a:endParaRPr lang="en-US" sz="9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22"/>
          <p:cNvSpPr/>
          <p:nvPr/>
        </p:nvSpPr>
        <p:spPr>
          <a:xfrm>
            <a:off x="0" y="6035040"/>
            <a:ext cx="12191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sng" strike="noStrike" spc="-1">
                <a:solidFill>
                  <a:srgbClr val="807D74"/>
                </a:solidFill>
                <a:uFillTx/>
                <a:latin typeface="Courier New"/>
                <a:ea typeface="Courier New"/>
                <a:hlinkClick r:id="rId3"/>
              </a:rPr>
              <a:t>anishboodia-dot.github.io/ai-ilecture-checkpoints-demo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23"/>
          <p:cNvSpPr/>
          <p:nvPr/>
        </p:nvSpPr>
        <p:spPr>
          <a:xfrm>
            <a:off x="0" y="6263640"/>
            <a:ext cx="1219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248">
                <a:solidFill>
                  <a:srgbClr val="807D74"/>
                </a:solidFill>
                <a:latin typeface="Arial"/>
                <a:ea typeface="Arial"/>
              </a:rPr>
              <a:t>GROUP 12  ·  FUTURE LEARNING CONCEPT  ·  LFC 2026 · AI UNLEASHED  ·  CURTIN UNIVERSITY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24"/>
          <p:cNvSpPr/>
          <p:nvPr/>
        </p:nvSpPr>
        <p:spPr>
          <a:xfrm>
            <a:off x="0" y="6546960"/>
            <a:ext cx="12191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strike="noStrike" spc="-1">
                <a:solidFill>
                  <a:srgbClr val="807D74"/>
                </a:solidFill>
                <a:latin typeface="Calibri"/>
                <a:ea typeface="Calibri"/>
              </a:rPr>
              <a:t>Concept prototype with demo content only. Not affiliated with Echo360 or Curtin University.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Words>1610</Words>
  <Application>Microsoft Office PowerPoint</Application>
  <PresentationFormat>Widescreen</PresentationFormat>
  <Paragraphs>279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boodia hemen</dc:creator>
  <cp:lastModifiedBy>Hemen Boodia (Student)</cp:lastModifiedBy>
  <cp:revision>4</cp:revision>
  <dcterms:modified xsi:type="dcterms:W3CDTF">2026-07-12T15:10:35Z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2026-07-10T14:46:34Z</dcterms:created>
  <dc:creator>Group 12</dc:creator>
  <dc:description/>
  <dc:language>en-US</dc:language>
  <cp:lastModifiedBy>Group 12</cp:lastModifiedBy>
  <dcterms:modified xsi:type="dcterms:W3CDTF">2026-07-10T14:46:34Z</dcterms:modified>
  <cp:revision>1</cp:revision>
  <dc:subject>PptxGenJS Presentation</dc:subject>
  <dc:title>Cognivue Pitch, LFC 2026 AI Unleashed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